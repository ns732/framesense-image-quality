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6" r:id="rId4"/>
  </p:sldMasterIdLst>
  <p:notesMasterIdLst>
    <p:notesMasterId r:id="rId21"/>
  </p:notesMasterIdLst>
  <p:handoutMasterIdLst>
    <p:handoutMasterId r:id="rId22"/>
  </p:handoutMasterIdLst>
  <p:sldIdLst>
    <p:sldId id="283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6" r:id="rId13"/>
    <p:sldId id="277" r:id="rId14"/>
    <p:sldId id="278" r:id="rId15"/>
    <p:sldId id="279" r:id="rId16"/>
    <p:sldId id="284" r:id="rId17"/>
    <p:sldId id="280" r:id="rId18"/>
    <p:sldId id="281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865D"/>
    <a:srgbClr val="FF6161"/>
    <a:srgbClr val="0B0C12"/>
    <a:srgbClr val="2F345B"/>
    <a:srgbClr val="7A160C"/>
    <a:srgbClr val="7A9E44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69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7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515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302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681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10/27/2026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8A10533-57B5-F4A4-00B8-CEF6DE0735CF}"/>
              </a:ext>
            </a:extLst>
          </p:cNvPr>
          <p:cNvSpPr>
            <a:spLocks noChangeAspect="1"/>
          </p:cNvSpPr>
          <p:nvPr userDrawn="1"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DDDAEC2-1912-8230-5566-861A4CA41F01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E9A6ECB-6BDC-4274-229D-AEE769327C52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B09DD4C-52B5-3E3B-A303-2E8CA778ED8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BAC8A89-E38D-5743-0E2A-35E9A6154FB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40F5411-0E11-8AB3-09E2-40D00A557BE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D2D5CC-EEB1-371A-BAA2-17EBDCC111C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1535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FF77-C2BC-3842-9757-C2EBADB34099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991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2A7CB4E-BD8C-8E4D-91FF-B1939559C134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2189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85128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57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52DD5A-B150-8340-8E59-4C8F3F7E3A59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347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754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311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66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40182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312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355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001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473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35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984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139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766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62FAA25-3923-0740-83DA-275C59DD4599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71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B1B52C7-37F9-BD40-8BE5-16C7107F6B2A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06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0960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08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5AB00-997D-D540-BC20-37B7E62B26C1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438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ECCF-2CCD-CA4B-8712-AE4484B24AE9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5478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5720" y="1605915"/>
            <a:ext cx="4480560" cy="246888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480" y="4245427"/>
            <a:ext cx="3749040" cy="14630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5E30E4-6ABC-717D-EDA7-C6A92FCDB0F6}"/>
              </a:ext>
            </a:extLst>
          </p:cNvPr>
          <p:cNvSpPr>
            <a:spLocks noChangeAspect="1"/>
          </p:cNvSpPr>
          <p:nvPr userDrawn="1"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6B797E-AAB7-2FA3-8ADB-E0218F350D22}"/>
              </a:ext>
            </a:extLst>
          </p:cNvPr>
          <p:cNvCxnSpPr>
            <a:cxnSpLocks/>
          </p:cNvCxnSpPr>
          <p:nvPr/>
        </p:nvCxnSpPr>
        <p:spPr>
          <a:xfrm flipV="1"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586E34-FF91-68B8-CAEC-F84AD2DEEDB2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8CCB10-9F99-49CE-839A-D1D1C8B51CC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2BBAB3-D3B1-A927-AFB7-E23615F2CD5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A581A57-E7BF-DC2D-2E40-FD3FB95BA77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8602E52-B25B-C787-B432-FAE138B19417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13978C-81F6-A536-CE48-A5BCDCD8424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3104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170C3BF-B703-4A66-2FFE-1FD2365D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7723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1884465-7638-4041-56EF-684A60E846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9848" y="1463040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E13058-C9D5-FD2D-4E13-939A67007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AF45BD-F4F0-4F29-C005-BA3BC8AF0A6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B8559CA-B25F-A779-165D-000F511BD53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076E1BB-25B4-D52E-01F1-44C64375D6F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C388FC-A0B6-481D-BEB4-876D3CFC3F7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950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20B57-74C2-7AD8-6E07-D29EE6A6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912" y="4597404"/>
            <a:ext cx="9784077" cy="980435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28025AC-332D-ADB0-3E96-03E4761BBC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5668963"/>
            <a:ext cx="9784842" cy="63976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8258" y="404999"/>
            <a:ext cx="10575485" cy="383680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1" b="-66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040831" y="4203335"/>
            <a:ext cx="349431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A42598-CA8F-5141-9F98-7018240FA786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904286-3DEB-9849-219D-A085C0024794}"/>
              </a:ext>
            </a:extLst>
          </p:cNvPr>
          <p:cNvCxnSpPr>
            <a:cxnSpLocks/>
          </p:cNvCxnSpPr>
          <p:nvPr/>
        </p:nvCxnSpPr>
        <p:spPr>
          <a:xfrm>
            <a:off x="803185" y="426735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F7D0C-5069-E36A-74BE-09B74A8BDF5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A121A0-9E65-3E8B-DBB2-52D98873A8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B9F357-72AD-336C-0877-A0314E6529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373381C-AC31-FE63-FC5F-EFE48EAFF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AEBC41-77CA-7255-DEC2-73C82A6D4E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0553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8D1A68-0FAC-B397-3F43-E7E6DB16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5598" y="1126010"/>
            <a:ext cx="4668639" cy="347877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4891711-2302-9D63-B25E-AF7AF07C3A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8" y="4731335"/>
            <a:ext cx="4668642" cy="1193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F5D23C8-9820-654D-9C1E-FE1FC23DA807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7141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E3D082D-5D35-2F9F-90C3-021CD215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18" y="782840"/>
            <a:ext cx="4572587" cy="366114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A1BC-11EF-D28B-C0E1-F2D685AF72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B07658D-2C15-0859-FC14-231204836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4663439"/>
            <a:ext cx="4571996" cy="1380739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565B300-A92A-F114-82AF-D815794F430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9048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7B55B-A218-74B5-0BEE-22235E9B8B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3C345D-F56F-0743-AB88-4EB3E35EF63D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10BF7-333F-24FE-D2DF-7331FF9658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C99E2D-452C-18BB-7BBF-6B7623C54B61}"/>
              </a:ext>
            </a:extLst>
          </p:cNvPr>
          <p:cNvCxnSpPr/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9994A-73A8-CE11-7B98-7EA7C4CD1EA5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7A9A682-C17C-6F60-46E3-F77E33DAF30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5C5B78E-1DDD-2C3B-5815-0AA0E821DF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1B8608-E98C-230E-455F-2EB092A04E7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D2C4CF-5F74-8957-6184-413A56C8ED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3688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DB7B0F2-3D52-79E2-8444-B82E34B5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786384"/>
            <a:ext cx="4668637" cy="346049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944F125D-7632-1E4B-E35B-4A1B552FC8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9" y="4663439"/>
            <a:ext cx="4668641" cy="1380744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F5D23C8-9820-654D-9C1E-FE1FC23DA807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57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8E949C-4552-505B-2374-1AD98378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2"/>
            <a:ext cx="7589520" cy="3474721"/>
          </a:xfrm>
        </p:spPr>
        <p:txBody>
          <a:bodyPr>
            <a:noAutofit/>
          </a:bodyPr>
          <a:lstStyle>
            <a:lvl1pPr>
              <a:defRPr sz="7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6AD6200-A62D-83E5-67FF-7C9D21BC40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480561"/>
            <a:ext cx="6655519" cy="1563618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94B28A-4C74-C14A-960D-ABD28BCC0EB4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F68E49-FB2F-EE46-BBC5-687EFFAC5B44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684535-D8D6-3C5C-2F48-CF561A53589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53CEFA-651F-E217-0B0C-E52881B35E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1F9794-829E-FFF3-35B9-FBE5704507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C86891-1380-AD13-7BB7-52F437FF1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9315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9C5E13-DAC4-195E-1928-8B3D9E93B8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4000" y="2184400"/>
            <a:ext cx="4298950" cy="2468563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0C1909-8EA0-3E44-B1AC-A9EA56584238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4AF90E-26F2-BCC1-1730-ECA670AFE5A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7397F7-ED9A-8F00-3F67-261E1D3015B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A2613-2C66-F678-F8F9-98BC7AA76A7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C37B4F-9C8D-F842-D910-EFB122B37B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9ABB5DB-6C07-7796-F8FD-C5EF39B54DC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FF3CE0-FE95-A5D4-5EF7-60EA03431A10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571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16615"/>
            <a:ext cx="438912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BC836E-EE23-E8E8-F704-10EB1EBA07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5248" y="816615"/>
            <a:ext cx="4389104" cy="5224768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D936B8-E398-1A41-8DE9-58DDB113FEEA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35B3E4-3247-E935-5816-43C07DF6498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0567FB-D8E5-4494-8865-28151857CC4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12D679A-B370-3459-D826-984A8FAAB54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A0B87DB-56D9-FC57-14D7-948086B86C1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510EE14-987F-5583-91B2-3C68EE913C1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296E2B-A6A5-A82B-D158-69450A5EA39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716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BE259E-88AB-BB2B-BAA5-9AF1880F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3151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63040"/>
            <a:ext cx="10058400" cy="43891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2752B3-7BF7-614C-A80A-1256FFE41AD1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FE2746-CBB4-791D-92ED-7D4BA96D0C9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72F8CD-9781-5B69-6A2F-ACD2927779D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209B7C8-C55B-17E4-6C60-9C15BB7A63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0942E2-D6E0-4A3B-CF5E-C7A8F0B917C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A5B6906-9443-FEB0-23E3-78142F3660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1634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3C509E-C7AC-2821-160D-02A10B58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640080"/>
            <a:ext cx="10058400" cy="7315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3C0EFA-B5AE-CA80-DC77-DA3E8AC5A30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69975" y="1463675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482BA7-8406-1C47-9A76-988652CA5787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0433CD-47AD-50BF-BD73-0A8881E7799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453102-CF88-5F5D-F01F-D55DFF9F821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331B85-F551-1D98-E249-E17615E9AA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F1728A5-B526-3330-7A6A-8E6E4F5AB12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48EDDF-9CB1-4C44-B1E2-CC97C6F10B3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8049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6D58EB7-9EC7-5A50-30A3-E2D9EDD0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7018" y="1599060"/>
            <a:ext cx="5052018" cy="3658736"/>
          </a:xfrm>
        </p:spPr>
        <p:txBody>
          <a:bodyPr anchor="ctr">
            <a:normAutofit/>
          </a:bodyPr>
          <a:lstStyle>
            <a:lvl1pPr>
              <a:defRPr sz="2400" cap="none" baseline="0"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E2753DF-FB9B-AECE-E745-E846066B17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" y="1600200"/>
            <a:ext cx="5140325" cy="3657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20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FF3B4E-61F2-9C45-A7C9-0649FA3F05AD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76975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020C093-E585-447D-B145-C13F5660E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965193"/>
            <a:ext cx="9144000" cy="1105229"/>
          </a:xfrm>
        </p:spPr>
        <p:txBody>
          <a:bodyPr anchor="ctr">
            <a:normAutofit/>
          </a:bodyPr>
          <a:lstStyle>
            <a:lvl1pPr>
              <a:defRPr sz="160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D2DEB7-F276-E60E-F5A1-0F02C54BD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F91B2D-44E4-C3B1-BD5E-A10AC8543D2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524000" y="1006475"/>
            <a:ext cx="9144000" cy="2925763"/>
          </a:xfrm>
        </p:spPr>
        <p:txBody>
          <a:bodyPr anchor="ctr"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4927EC-ED75-B33D-1D89-85EE4258FB86}"/>
              </a:ext>
            </a:extLst>
          </p:cNvPr>
          <p:cNvCxnSpPr>
            <a:cxnSpLocks/>
          </p:cNvCxnSpPr>
          <p:nvPr/>
        </p:nvCxnSpPr>
        <p:spPr>
          <a:xfrm>
            <a:off x="799908" y="4572000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816284-1868-D968-9C16-5FE2038BC6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17FF52-3D92-5045-83B3-191BF759FA8D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4E6AE7-6445-C0E9-7714-3905800EE3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4FFC6-B9C5-5A14-BCDE-0FACA9EED39A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45BAA9C-294C-90CA-EE5A-ED75E616517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C127FFD-0227-7A04-CAE1-B0476A186E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B871B-1B46-69D5-1EA9-A5D3125C17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9C52E0-6299-124E-DEAC-88A5054BB4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8770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508F0-4C97-9A80-2546-BC6EE3D273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60450" y="1828800"/>
            <a:ext cx="4768850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9AB0DFB-3813-8899-8844-3F65C902B80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391" y="1828800"/>
            <a:ext cx="4755712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059AB6-B751-F44D-A28C-E19CFA261A8F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83DEFD-C76A-E192-4470-7F7DCE92CBC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F15C6-51A3-0039-7C8E-9F5BC53301C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F2827DB-A570-B094-5067-79A4F7DA7F3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DF52F4-C942-A75F-0F4B-911959D2F30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44BFA9-C671-8332-EC4C-A56CAAB34AE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7040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011" y="600148"/>
            <a:ext cx="1005840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011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5B8AB-C546-6624-5613-679F649D80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58011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436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89131D8-B072-15AB-4C0D-39F0B943B0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436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B7459A-9905-1A4B-AB1A-C91FAC752AC6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70A967-D43A-531B-AB77-B7D2DE7E4B0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B1175E-A767-B7AB-D265-9256ECCA8E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29F5B2-C13B-2102-792E-E51F173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C2A7D0-2242-BB3D-AC3F-126E076FC3A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40BEB2B-F33C-CFC6-3060-70CD260293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5224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739503E-9C75-484A-A764-D9D8121AAE05}" type="datetime1">
              <a:rPr lang="en-US" smtClean="0"/>
              <a:pPr/>
              <a:t>10/27/2026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 hidden="1">
            <a:extLst>
              <a:ext uri="{FF2B5EF4-FFF2-40B4-BE49-F238E27FC236}">
                <a16:creationId xmlns:a16="http://schemas.microsoft.com/office/drawing/2014/main" id="{54FD47B2-369D-E828-EA0C-6562296F3044}"/>
              </a:ext>
            </a:extLst>
          </p:cNvPr>
          <p:cNvSpPr/>
          <p:nvPr userDrawn="1"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19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  <p:sldLayoutId id="2147484024" r:id="rId18"/>
    <p:sldLayoutId id="2147484025" r:id="rId19"/>
    <p:sldLayoutId id="2147484026" r:id="rId20"/>
    <p:sldLayoutId id="2147484027" r:id="rId21"/>
    <p:sldLayoutId id="2147484028" r:id="rId22"/>
    <p:sldLayoutId id="2147484029" r:id="rId23"/>
    <p:sldLayoutId id="2147484030" r:id="rId24"/>
    <p:sldLayoutId id="2147484031" r:id="rId25"/>
    <p:sldLayoutId id="2147484032" r:id="rId26"/>
    <p:sldLayoutId id="2147484033" r:id="rId27"/>
    <p:sldLayoutId id="2147483918" r:id="rId28"/>
    <p:sldLayoutId id="2147483919" r:id="rId29"/>
    <p:sldLayoutId id="2147483920" r:id="rId30"/>
    <p:sldLayoutId id="2147483921" r:id="rId31"/>
    <p:sldLayoutId id="2147483922" r:id="rId32"/>
    <p:sldLayoutId id="2147483976" r:id="rId33"/>
    <p:sldLayoutId id="2147483923" r:id="rId34"/>
    <p:sldLayoutId id="2147483933" r:id="rId35"/>
    <p:sldLayoutId id="2147483935" r:id="rId36"/>
    <p:sldLayoutId id="2147483936" r:id="rId37"/>
    <p:sldLayoutId id="2147483937" r:id="rId38"/>
    <p:sldLayoutId id="2147483959" r:id="rId39"/>
    <p:sldLayoutId id="2147483964" r:id="rId40"/>
    <p:sldLayoutId id="2147483967" r:id="rId41"/>
    <p:sldLayoutId id="2147483969" r:id="rId4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framesense.streamlit.app/" TargetMode="External"/><Relationship Id="rId2" Type="http://schemas.openxmlformats.org/officeDocument/2006/relationships/hyperlink" Target="https://github.com/ns732/framesense-image-qualit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A3E6F-703F-E589-F203-464928E3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CBF6B-2448-CD59-86BE-6F04D82A09E8}"/>
              </a:ext>
            </a:extLst>
          </p:cNvPr>
          <p:cNvSpPr txBox="1"/>
          <p:nvPr/>
        </p:nvSpPr>
        <p:spPr>
          <a:xfrm>
            <a:off x="634042" y="2227392"/>
            <a:ext cx="87169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sz="3600" dirty="0"/>
              <a:t>Evaluating Vision Transformer Models for Image Quality Assessment in Accessibility Applications</a:t>
            </a:r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FCD56A-E1A7-995F-5DE0-06FE07A58744}"/>
              </a:ext>
            </a:extLst>
          </p:cNvPr>
          <p:cNvSpPr txBox="1"/>
          <p:nvPr/>
        </p:nvSpPr>
        <p:spPr>
          <a:xfrm>
            <a:off x="634042" y="4153533"/>
            <a:ext cx="7805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Comparative Study of </a:t>
            </a:r>
            <a:r>
              <a:rPr lang="en-A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ViT</a:t>
            </a:r>
            <a:r>
              <a:rPr lang="en-A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CLIP, and DINOv2 Using the </a:t>
            </a:r>
            <a:r>
              <a:rPr lang="en-A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VizWiz</a:t>
            </a:r>
            <a:r>
              <a:rPr lang="en-A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Dataset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7534D69-C6B9-36B9-6377-939BDD31FEC4}"/>
              </a:ext>
            </a:extLst>
          </p:cNvPr>
          <p:cNvSpPr txBox="1">
            <a:spLocks/>
          </p:cNvSpPr>
          <p:nvPr/>
        </p:nvSpPr>
        <p:spPr>
          <a:xfrm>
            <a:off x="634042" y="4884250"/>
            <a:ext cx="4179498" cy="101498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By: Nahan Salam</a:t>
            </a:r>
            <a:r>
              <a:rPr lang="en-AE" dirty="0"/>
              <a:t> . 8226337</a:t>
            </a:r>
            <a:endParaRPr lang="en-GB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B19C51-0F9D-3E30-E376-28F30F489DAD}"/>
              </a:ext>
            </a:extLst>
          </p:cNvPr>
          <p:cNvCxnSpPr>
            <a:cxnSpLocks/>
          </p:cNvCxnSpPr>
          <p:nvPr/>
        </p:nvCxnSpPr>
        <p:spPr>
          <a:xfrm>
            <a:off x="245854" y="1467293"/>
            <a:ext cx="0" cy="3776854"/>
          </a:xfrm>
          <a:prstGeom prst="line">
            <a:avLst/>
          </a:prstGeom>
          <a:ln w="28575">
            <a:solidFill>
              <a:srgbClr val="5C8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D5BE3BCE-41E3-39D5-BBE4-58D1FF56F5E8}"/>
              </a:ext>
            </a:extLst>
          </p:cNvPr>
          <p:cNvSpPr/>
          <p:nvPr/>
        </p:nvSpPr>
        <p:spPr>
          <a:xfrm>
            <a:off x="-17253" y="5710687"/>
            <a:ext cx="12232257" cy="1121434"/>
          </a:xfrm>
          <a:custGeom>
            <a:avLst/>
            <a:gdLst>
              <a:gd name="csX0" fmla="*/ 0 w 12232257"/>
              <a:gd name="csY0" fmla="*/ 1121434 h 1121434"/>
              <a:gd name="csX1" fmla="*/ 4175185 w 12232257"/>
              <a:gd name="csY1" fmla="*/ 310551 h 1121434"/>
              <a:gd name="csX2" fmla="*/ 7159925 w 12232257"/>
              <a:gd name="csY2" fmla="*/ 672860 h 1121434"/>
              <a:gd name="csX3" fmla="*/ 7159925 w 12232257"/>
              <a:gd name="csY3" fmla="*/ 672860 h 1121434"/>
              <a:gd name="csX4" fmla="*/ 12232257 w 12232257"/>
              <a:gd name="csY4" fmla="*/ 0 h 1121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32257" h="1121434">
                <a:moveTo>
                  <a:pt x="0" y="1121434"/>
                </a:moveTo>
                <a:cubicBezTo>
                  <a:pt x="1490932" y="753373"/>
                  <a:pt x="2981864" y="385313"/>
                  <a:pt x="4175185" y="310551"/>
                </a:cubicBezTo>
                <a:cubicBezTo>
                  <a:pt x="5368506" y="235789"/>
                  <a:pt x="7159925" y="672860"/>
                  <a:pt x="7159925" y="672860"/>
                </a:cubicBezTo>
                <a:lnTo>
                  <a:pt x="7159925" y="672860"/>
                </a:lnTo>
                <a:lnTo>
                  <a:pt x="12232257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ED218581-1BD6-EF17-09F4-43406359D556}"/>
              </a:ext>
            </a:extLst>
          </p:cNvPr>
          <p:cNvSpPr/>
          <p:nvPr/>
        </p:nvSpPr>
        <p:spPr>
          <a:xfrm>
            <a:off x="135147" y="5863087"/>
            <a:ext cx="12232257" cy="1121434"/>
          </a:xfrm>
          <a:custGeom>
            <a:avLst/>
            <a:gdLst>
              <a:gd name="csX0" fmla="*/ 0 w 12232257"/>
              <a:gd name="csY0" fmla="*/ 1121434 h 1121434"/>
              <a:gd name="csX1" fmla="*/ 4175185 w 12232257"/>
              <a:gd name="csY1" fmla="*/ 310551 h 1121434"/>
              <a:gd name="csX2" fmla="*/ 7159925 w 12232257"/>
              <a:gd name="csY2" fmla="*/ 672860 h 1121434"/>
              <a:gd name="csX3" fmla="*/ 7159925 w 12232257"/>
              <a:gd name="csY3" fmla="*/ 672860 h 1121434"/>
              <a:gd name="csX4" fmla="*/ 12232257 w 12232257"/>
              <a:gd name="csY4" fmla="*/ 0 h 1121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32257" h="1121434">
                <a:moveTo>
                  <a:pt x="0" y="1121434"/>
                </a:moveTo>
                <a:cubicBezTo>
                  <a:pt x="1490932" y="753373"/>
                  <a:pt x="2981864" y="385313"/>
                  <a:pt x="4175185" y="310551"/>
                </a:cubicBezTo>
                <a:cubicBezTo>
                  <a:pt x="5368506" y="235789"/>
                  <a:pt x="7159925" y="672860"/>
                  <a:pt x="7159925" y="672860"/>
                </a:cubicBezTo>
                <a:lnTo>
                  <a:pt x="7159925" y="672860"/>
                </a:lnTo>
                <a:lnTo>
                  <a:pt x="12232257" y="0"/>
                </a:lnTo>
              </a:path>
            </a:pathLst>
          </a:cu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7C21DA-01CF-DC26-3B90-572A35D672E0}"/>
              </a:ext>
            </a:extLst>
          </p:cNvPr>
          <p:cNvSpPr txBox="1"/>
          <p:nvPr/>
        </p:nvSpPr>
        <p:spPr>
          <a:xfrm>
            <a:off x="634042" y="1341094"/>
            <a:ext cx="3434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tx2">
                    <a:lumMod val="75000"/>
                  </a:schemeClr>
                </a:solidFill>
              </a:rPr>
              <a:t>FrameSense</a:t>
            </a:r>
            <a:endParaRPr lang="en-AE" sz="4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159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29F2-3CA1-6CCA-DEBE-799E69606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DE11-9DBA-5D98-6162-E6103E421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</a:t>
            </a:r>
            <a:endParaRPr lang="en-A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FF88C-7969-640A-D311-9708A944E4E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924BE6-3F01-B22F-83BA-417D0E56738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73E9B-7DB2-8F3D-A30A-312D61F1A5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A6AB-2352-64A6-B21F-53159E63F05F}"/>
              </a:ext>
            </a:extLst>
          </p:cNvPr>
          <p:cNvSpPr/>
          <p:nvPr/>
        </p:nvSpPr>
        <p:spPr>
          <a:xfrm>
            <a:off x="182009" y="1981200"/>
            <a:ext cx="2800677" cy="4154518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F4DE4-1A29-1EE2-023F-4BEE9CFCC0DF}"/>
              </a:ext>
            </a:extLst>
          </p:cNvPr>
          <p:cNvSpPr/>
          <p:nvPr/>
        </p:nvSpPr>
        <p:spPr>
          <a:xfrm>
            <a:off x="334409" y="2133600"/>
            <a:ext cx="2800677" cy="415451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B2E070-289C-5882-FE5C-626483FAD0CB}"/>
              </a:ext>
            </a:extLst>
          </p:cNvPr>
          <p:cNvSpPr/>
          <p:nvPr/>
        </p:nvSpPr>
        <p:spPr>
          <a:xfrm>
            <a:off x="486809" y="2286000"/>
            <a:ext cx="2800677" cy="4154518"/>
          </a:xfrm>
          <a:prstGeom prst="rect">
            <a:avLst/>
          </a:prstGeom>
          <a:noFill/>
          <a:ln w="38100">
            <a:solidFill>
              <a:srgbClr val="5C8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5D70D5-ED7F-BB2C-F2F1-8C8329C1B10B}"/>
              </a:ext>
            </a:extLst>
          </p:cNvPr>
          <p:cNvSpPr/>
          <p:nvPr/>
        </p:nvSpPr>
        <p:spPr>
          <a:xfrm>
            <a:off x="3993154" y="1981200"/>
            <a:ext cx="7059857" cy="4154518"/>
          </a:xfrm>
          <a:prstGeom prst="rect">
            <a:avLst/>
          </a:prstGeom>
          <a:noFill/>
          <a:ln w="38100">
            <a:solidFill>
              <a:srgbClr val="2F34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B39B1-2DE3-447F-2596-8293BCB68B53}"/>
              </a:ext>
            </a:extLst>
          </p:cNvPr>
          <p:cNvSpPr txBox="1"/>
          <p:nvPr/>
        </p:nvSpPr>
        <p:spPr>
          <a:xfrm>
            <a:off x="4297954" y="2286000"/>
            <a:ext cx="5511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Background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456337-3276-DB3B-9FAC-4E7409621E39}"/>
              </a:ext>
            </a:extLst>
          </p:cNvPr>
          <p:cNvSpPr txBox="1"/>
          <p:nvPr/>
        </p:nvSpPr>
        <p:spPr>
          <a:xfrm>
            <a:off x="4507832" y="3241363"/>
            <a:ext cx="59837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Image quality affects how reliably computer vision systems interpret visual information. Real-world photographs often contain imperfections that can influence model predictions.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B5D051-961A-3211-D970-7192FDE3D2DA}"/>
              </a:ext>
            </a:extLst>
          </p:cNvPr>
          <p:cNvCxnSpPr/>
          <p:nvPr/>
        </p:nvCxnSpPr>
        <p:spPr>
          <a:xfrm>
            <a:off x="4443663" y="2937556"/>
            <a:ext cx="2390274" cy="0"/>
          </a:xfrm>
          <a:prstGeom prst="line">
            <a:avLst/>
          </a:prstGeom>
          <a:ln w="19050">
            <a:solidFill>
              <a:srgbClr val="5C8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3950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5E235-08B3-16BE-D062-FC1391B5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E559-2C38-4942-4A8B-5290C5C3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</a:t>
            </a:r>
            <a:endParaRPr lang="en-A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898F0-60D6-C46E-16A3-E6DAE38383A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52852-8743-9CB7-9B46-ABE99AFD9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732CFC-A4D8-ECBA-32BD-6AA72D91E4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59A24E-6E19-B56B-37F1-74337A591D16}"/>
              </a:ext>
            </a:extLst>
          </p:cNvPr>
          <p:cNvSpPr/>
          <p:nvPr/>
        </p:nvSpPr>
        <p:spPr>
          <a:xfrm>
            <a:off x="182009" y="1981200"/>
            <a:ext cx="2800677" cy="4154518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E16B15-3CF3-0B19-00A7-691CC0F36412}"/>
              </a:ext>
            </a:extLst>
          </p:cNvPr>
          <p:cNvSpPr/>
          <p:nvPr/>
        </p:nvSpPr>
        <p:spPr>
          <a:xfrm>
            <a:off x="334409" y="2133600"/>
            <a:ext cx="2800677" cy="415451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1561C8-6163-EEBB-DBB7-7ED0762F462B}"/>
              </a:ext>
            </a:extLst>
          </p:cNvPr>
          <p:cNvSpPr/>
          <p:nvPr/>
        </p:nvSpPr>
        <p:spPr>
          <a:xfrm>
            <a:off x="704522" y="2497712"/>
            <a:ext cx="2800677" cy="4154518"/>
          </a:xfrm>
          <a:prstGeom prst="rect">
            <a:avLst/>
          </a:prstGeom>
          <a:noFill/>
          <a:ln w="38100">
            <a:solidFill>
              <a:srgbClr val="2F34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B1B186-122F-48B6-5AB4-77BBC0A1F35A}"/>
              </a:ext>
            </a:extLst>
          </p:cNvPr>
          <p:cNvSpPr/>
          <p:nvPr/>
        </p:nvSpPr>
        <p:spPr>
          <a:xfrm>
            <a:off x="3993154" y="1981200"/>
            <a:ext cx="7059857" cy="4154518"/>
          </a:xfrm>
          <a:prstGeom prst="rect">
            <a:avLst/>
          </a:prstGeom>
          <a:noFill/>
          <a:ln w="38100">
            <a:solidFill>
              <a:srgbClr val="5C8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FC749-6481-9751-672C-99E4437332B1}"/>
              </a:ext>
            </a:extLst>
          </p:cNvPr>
          <p:cNvSpPr txBox="1"/>
          <p:nvPr/>
        </p:nvSpPr>
        <p:spPr>
          <a:xfrm>
            <a:off x="4297954" y="2286000"/>
            <a:ext cx="5511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800" b="1" dirty="0">
                <a:solidFill>
                  <a:srgbClr val="5C865D"/>
                </a:solidFill>
              </a:rPr>
              <a:t>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2A08E-4EA3-B450-BA71-C027C5C832ED}"/>
              </a:ext>
            </a:extLst>
          </p:cNvPr>
          <p:cNvSpPr txBox="1"/>
          <p:nvPr/>
        </p:nvSpPr>
        <p:spPr>
          <a:xfrm>
            <a:off x="4507832" y="3241363"/>
            <a:ext cx="59837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dirty="0">
                <a:solidFill>
                  <a:srgbClr val="7A9E44"/>
                </a:solidFill>
              </a:rPr>
              <a:t>Blur, poor framing, rotation and unclear content can make images difficult for AI systems to interpret. This reduces the reliability of image-based predictions.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CDAB62-10CA-BD49-B7ED-70A3F7552D51}"/>
              </a:ext>
            </a:extLst>
          </p:cNvPr>
          <p:cNvCxnSpPr/>
          <p:nvPr/>
        </p:nvCxnSpPr>
        <p:spPr>
          <a:xfrm>
            <a:off x="4443663" y="2937556"/>
            <a:ext cx="2390274" cy="0"/>
          </a:xfrm>
          <a:prstGeom prst="line">
            <a:avLst/>
          </a:prstGeom>
          <a:ln w="1905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5659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8A75-2F47-3454-0C66-26F956DF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8DF6-768B-63CC-3BA9-4C4688E7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</a:t>
            </a:r>
            <a:endParaRPr lang="en-A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3618E7-BC5B-FB1F-5AC5-888D57CE99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DB8BB-8E75-BB00-5830-F1E753A817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F813D-BE94-6FE4-E352-C33EA56F5D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6C25F8-AB95-7D55-8FF2-C280A8C504FC}"/>
              </a:ext>
            </a:extLst>
          </p:cNvPr>
          <p:cNvSpPr/>
          <p:nvPr/>
        </p:nvSpPr>
        <p:spPr>
          <a:xfrm>
            <a:off x="182009" y="1981200"/>
            <a:ext cx="2800677" cy="4154518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7AF07-E304-D2AA-B168-3C4526277066}"/>
              </a:ext>
            </a:extLst>
          </p:cNvPr>
          <p:cNvSpPr/>
          <p:nvPr/>
        </p:nvSpPr>
        <p:spPr>
          <a:xfrm>
            <a:off x="4152430" y="2133600"/>
            <a:ext cx="6290981" cy="415451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3412D4-84A6-4491-E334-03D51F3EF777}"/>
              </a:ext>
            </a:extLst>
          </p:cNvPr>
          <p:cNvSpPr/>
          <p:nvPr/>
        </p:nvSpPr>
        <p:spPr>
          <a:xfrm>
            <a:off x="486809" y="2286000"/>
            <a:ext cx="2800677" cy="4154518"/>
          </a:xfrm>
          <a:prstGeom prst="rect">
            <a:avLst/>
          </a:prstGeom>
          <a:noFill/>
          <a:ln w="38100">
            <a:solidFill>
              <a:srgbClr val="5C8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0D2474-0C8F-3800-8980-7FCF786D55DD}"/>
              </a:ext>
            </a:extLst>
          </p:cNvPr>
          <p:cNvSpPr/>
          <p:nvPr/>
        </p:nvSpPr>
        <p:spPr>
          <a:xfrm>
            <a:off x="704522" y="2497712"/>
            <a:ext cx="2800677" cy="4154518"/>
          </a:xfrm>
          <a:prstGeom prst="rect">
            <a:avLst/>
          </a:prstGeom>
          <a:noFill/>
          <a:ln w="38100">
            <a:solidFill>
              <a:srgbClr val="2F34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D6719F-D3E6-1AC8-A462-8801E3E57FCC}"/>
              </a:ext>
            </a:extLst>
          </p:cNvPr>
          <p:cNvSpPr txBox="1"/>
          <p:nvPr/>
        </p:nvSpPr>
        <p:spPr>
          <a:xfrm>
            <a:off x="4507832" y="3241363"/>
            <a:ext cx="59837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Blur, poor framing, rotation and unclear content can make images difficult for AI systems to interpret, reducing the reliability of image-based predictions.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5F0508-B3BA-ABF9-ABFD-4B764185AA26}"/>
              </a:ext>
            </a:extLst>
          </p:cNvPr>
          <p:cNvCxnSpPr/>
          <p:nvPr/>
        </p:nvCxnSpPr>
        <p:spPr>
          <a:xfrm>
            <a:off x="4443663" y="2937556"/>
            <a:ext cx="2390274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469512-AEA1-0056-486D-4198D1815554}"/>
              </a:ext>
            </a:extLst>
          </p:cNvPr>
          <p:cNvSpPr txBox="1"/>
          <p:nvPr/>
        </p:nvSpPr>
        <p:spPr>
          <a:xfrm>
            <a:off x="4297954" y="2286000"/>
            <a:ext cx="5511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Accessibility</a:t>
            </a:r>
          </a:p>
        </p:txBody>
      </p:sp>
    </p:spTree>
    <p:extLst>
      <p:ext uri="{BB962C8B-B14F-4D97-AF65-F5344CB8AC3E}">
        <p14:creationId xmlns:p14="http://schemas.microsoft.com/office/powerpoint/2010/main" val="11234024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79FA1-46D2-4792-412C-1A3CDAD2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B094-6E1B-5E87-5794-34C9D5391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</a:t>
            </a:r>
            <a:endParaRPr lang="en-A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14673-FDDA-0709-E5DB-847FC5C50B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6950F-FA82-AC8F-1717-6C12CC4D227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6175D-9F08-963C-F249-53B0D5CA24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5AEC31-9EBE-191D-C96E-02EF7C298119}"/>
              </a:ext>
            </a:extLst>
          </p:cNvPr>
          <p:cNvSpPr/>
          <p:nvPr/>
        </p:nvSpPr>
        <p:spPr>
          <a:xfrm>
            <a:off x="4440899" y="2286000"/>
            <a:ext cx="6363171" cy="4154518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94A116-AEBC-29DA-C83D-E968BADCCE5D}"/>
              </a:ext>
            </a:extLst>
          </p:cNvPr>
          <p:cNvSpPr/>
          <p:nvPr/>
        </p:nvSpPr>
        <p:spPr>
          <a:xfrm>
            <a:off x="334409" y="2133600"/>
            <a:ext cx="2800677" cy="415451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FFA95-B9F5-EACB-5AFF-55A3EF9E0B12}"/>
              </a:ext>
            </a:extLst>
          </p:cNvPr>
          <p:cNvSpPr/>
          <p:nvPr/>
        </p:nvSpPr>
        <p:spPr>
          <a:xfrm>
            <a:off x="486809" y="2286000"/>
            <a:ext cx="2800677" cy="4154518"/>
          </a:xfrm>
          <a:prstGeom prst="rect">
            <a:avLst/>
          </a:prstGeom>
          <a:noFill/>
          <a:ln w="38100">
            <a:solidFill>
              <a:srgbClr val="5C8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625315-BC7C-C7BC-9340-4DC8A709B900}"/>
              </a:ext>
            </a:extLst>
          </p:cNvPr>
          <p:cNvSpPr/>
          <p:nvPr/>
        </p:nvSpPr>
        <p:spPr>
          <a:xfrm>
            <a:off x="704522" y="2497712"/>
            <a:ext cx="2800677" cy="4154518"/>
          </a:xfrm>
          <a:prstGeom prst="rect">
            <a:avLst/>
          </a:prstGeom>
          <a:noFill/>
          <a:ln w="38100">
            <a:solidFill>
              <a:srgbClr val="2F34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79084-323C-38C8-15B0-DD813F1CF43E}"/>
              </a:ext>
            </a:extLst>
          </p:cNvPr>
          <p:cNvSpPr txBox="1"/>
          <p:nvPr/>
        </p:nvSpPr>
        <p:spPr>
          <a:xfrm>
            <a:off x="4868490" y="3857681"/>
            <a:ext cx="59837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This study compares </a:t>
            </a:r>
            <a:r>
              <a:rPr lang="en-AE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ViT</a:t>
            </a:r>
            <a:r>
              <a:rPr lang="en-AE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CLIP and DINOv2 on the </a:t>
            </a:r>
            <a:r>
              <a:rPr lang="en-AE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VizWiz</a:t>
            </a:r>
            <a:r>
              <a:rPr lang="en-AE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dataset to evaluate their ability to identify image-quality issues and explore their potential to support accessibility applications.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172BCC-1FED-BC90-6CC2-33A6A13D1A3D}"/>
              </a:ext>
            </a:extLst>
          </p:cNvPr>
          <p:cNvCxnSpPr/>
          <p:nvPr/>
        </p:nvCxnSpPr>
        <p:spPr>
          <a:xfrm>
            <a:off x="4804321" y="3553874"/>
            <a:ext cx="2390274" cy="0"/>
          </a:xfrm>
          <a:prstGeom prst="line">
            <a:avLst/>
          </a:prstGeom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FB9F5E1-4554-4F8C-F8FE-A04404C3167A}"/>
              </a:ext>
            </a:extLst>
          </p:cNvPr>
          <p:cNvSpPr txBox="1"/>
          <p:nvPr/>
        </p:nvSpPr>
        <p:spPr>
          <a:xfrm>
            <a:off x="4658612" y="2902318"/>
            <a:ext cx="5511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Aim</a:t>
            </a:r>
            <a:endParaRPr lang="en-AE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8745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16F3-C208-C87C-F85A-49EF86424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337B-BCC0-CEC6-8341-AE669D4B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</a:t>
            </a:r>
            <a:endParaRPr lang="en-A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542B43-373A-3CB6-FD67-33404CF4B36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C6D80-2F66-FE01-5140-33C6482D8F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30247-B872-4F66-35B9-6DCAB07DC20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6BC98A-AD0E-C766-6FAE-A2F6D68CAF81}"/>
              </a:ext>
            </a:extLst>
          </p:cNvPr>
          <p:cNvSpPr/>
          <p:nvPr/>
        </p:nvSpPr>
        <p:spPr>
          <a:xfrm>
            <a:off x="9146876" y="2285727"/>
            <a:ext cx="2656936" cy="382383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7BF988-4FF3-4215-8863-0A9CFEA2E6BA}"/>
              </a:ext>
            </a:extLst>
          </p:cNvPr>
          <p:cNvSpPr/>
          <p:nvPr/>
        </p:nvSpPr>
        <p:spPr>
          <a:xfrm>
            <a:off x="6245525" y="2311878"/>
            <a:ext cx="2656936" cy="3823839"/>
          </a:xfrm>
          <a:prstGeom prst="rect">
            <a:avLst/>
          </a:prstGeom>
          <a:noFill/>
          <a:ln w="19050">
            <a:solidFill>
              <a:srgbClr val="5C8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3011DA-B341-EC4E-6D10-9983FCE77342}"/>
              </a:ext>
            </a:extLst>
          </p:cNvPr>
          <p:cNvSpPr/>
          <p:nvPr/>
        </p:nvSpPr>
        <p:spPr>
          <a:xfrm>
            <a:off x="255916" y="2311879"/>
            <a:ext cx="2656936" cy="3823839"/>
          </a:xfrm>
          <a:prstGeom prst="rect">
            <a:avLst/>
          </a:prstGeom>
          <a:noFill/>
          <a:ln w="19050">
            <a:solidFill>
              <a:srgbClr val="FF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6D5EAE-DB86-4C44-1D21-3F157378B652}"/>
              </a:ext>
            </a:extLst>
          </p:cNvPr>
          <p:cNvSpPr/>
          <p:nvPr/>
        </p:nvSpPr>
        <p:spPr>
          <a:xfrm>
            <a:off x="3252158" y="2311878"/>
            <a:ext cx="2656936" cy="3823839"/>
          </a:xfrm>
          <a:prstGeom prst="rect">
            <a:avLst/>
          </a:prstGeom>
          <a:noFill/>
          <a:ln w="19050">
            <a:solidFill>
              <a:srgbClr val="2F34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7E0A03-5BFB-44A4-981B-A90C527F4BAD}"/>
              </a:ext>
            </a:extLst>
          </p:cNvPr>
          <p:cNvSpPr txBox="1"/>
          <p:nvPr/>
        </p:nvSpPr>
        <p:spPr>
          <a:xfrm>
            <a:off x="301752" y="2587925"/>
            <a:ext cx="26111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000" b="1" dirty="0"/>
              <a:t>Dataset Overview </a:t>
            </a:r>
          </a:p>
          <a:p>
            <a:endParaRPr lang="en-AE" sz="2000" b="1" dirty="0"/>
          </a:p>
          <a:p>
            <a:r>
              <a:rPr lang="en-AE" dirty="0"/>
              <a:t>The </a:t>
            </a:r>
            <a:r>
              <a:rPr lang="en-AE" dirty="0" err="1"/>
              <a:t>VizWiz-QualityIssues</a:t>
            </a:r>
            <a:r>
              <a:rPr lang="en-AE" dirty="0"/>
              <a:t> dataset contains real-world images captured by people who are blind or have low vision, reflecting practical challenges in image quality assessment.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D7EB99-EE3C-7CF4-562B-3A205756E7CA}"/>
              </a:ext>
            </a:extLst>
          </p:cNvPr>
          <p:cNvSpPr txBox="1"/>
          <p:nvPr/>
        </p:nvSpPr>
        <p:spPr>
          <a:xfrm>
            <a:off x="3335376" y="2587925"/>
            <a:ext cx="2611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000" b="1" dirty="0"/>
              <a:t>Dataset Size</a:t>
            </a:r>
          </a:p>
          <a:p>
            <a:endParaRPr lang="en-AE" sz="2000" b="1" dirty="0"/>
          </a:p>
          <a:p>
            <a:pPr lvl="0"/>
            <a:r>
              <a:rPr lang="en-AE" dirty="0"/>
              <a:t>Training set: </a:t>
            </a:r>
            <a:r>
              <a:rPr lang="en-AE" b="1" dirty="0"/>
              <a:t>23,431 images</a:t>
            </a:r>
          </a:p>
          <a:p>
            <a:pPr lvl="0"/>
            <a:r>
              <a:rPr lang="en-AE" dirty="0"/>
              <a:t>Validation set: </a:t>
            </a:r>
            <a:r>
              <a:rPr lang="en-AE" b="1" dirty="0"/>
              <a:t>7,750 images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FC09A5-BF99-ED03-3E80-744B106F686C}"/>
              </a:ext>
            </a:extLst>
          </p:cNvPr>
          <p:cNvSpPr txBox="1"/>
          <p:nvPr/>
        </p:nvSpPr>
        <p:spPr>
          <a:xfrm>
            <a:off x="6367733" y="2587925"/>
            <a:ext cx="265693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000" b="1" dirty="0"/>
              <a:t>Classification Tasks</a:t>
            </a:r>
          </a:p>
          <a:p>
            <a:endParaRPr lang="en-AE" sz="2000" b="1" dirty="0"/>
          </a:p>
          <a:p>
            <a:r>
              <a:rPr lang="en-AE" dirty="0"/>
              <a:t>The study examines four image-quality issues: blur, poor framing, rotation and </a:t>
            </a:r>
            <a:r>
              <a:rPr lang="en-AE" dirty="0" err="1"/>
              <a:t>unrecognisability</a:t>
            </a:r>
            <a:r>
              <a:rPr lang="en-AE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631C6D-2A88-1A0D-A866-06BDFC7EF05D}"/>
              </a:ext>
            </a:extLst>
          </p:cNvPr>
          <p:cNvSpPr txBox="1"/>
          <p:nvPr/>
        </p:nvSpPr>
        <p:spPr>
          <a:xfrm>
            <a:off x="9201510" y="2587925"/>
            <a:ext cx="2611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000" b="1" dirty="0"/>
              <a:t>Labelling Strategy</a:t>
            </a:r>
          </a:p>
          <a:p>
            <a:endParaRPr lang="en-AE" sz="2000" b="1" dirty="0"/>
          </a:p>
          <a:p>
            <a:pPr lvl="0"/>
            <a:r>
              <a:rPr lang="en-AE" dirty="0"/>
              <a:t>An image is labelled positive for an issue when at least three annotators vote for that issue, helping establish consistent classification targets.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10928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D4224-BFF5-0B41-BE79-DCDAA0B1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A926-9EED-10CA-2E3C-4413FA64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and Methodology</a:t>
            </a:r>
            <a:endParaRPr lang="en-A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9178E-F497-E4B7-4083-FB433883792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98466-9C5C-63A0-F4DA-CF3366594E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Models and Methodology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BCD40-3E28-CE66-7A68-C51AF9A4A5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8B60CA-271F-93D5-30DF-40B757BABB25}"/>
              </a:ext>
            </a:extLst>
          </p:cNvPr>
          <p:cNvSpPr txBox="1"/>
          <p:nvPr/>
        </p:nvSpPr>
        <p:spPr>
          <a:xfrm>
            <a:off x="301752" y="1915064"/>
            <a:ext cx="11292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3">
                    <a:lumMod val="75000"/>
                  </a:schemeClr>
                </a:solidFill>
              </a:rPr>
              <a:t>Images → Preprocessing → Feature Extraction → Standardisation → Logistic Regression → Prediction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D676E1-BE97-EA17-2EB1-2116A68D9F11}"/>
              </a:ext>
            </a:extLst>
          </p:cNvPr>
          <p:cNvSpPr/>
          <p:nvPr/>
        </p:nvSpPr>
        <p:spPr>
          <a:xfrm>
            <a:off x="744011" y="3222872"/>
            <a:ext cx="3235579" cy="317622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06910E-952E-7ECF-C384-08A83BD6D74C}"/>
              </a:ext>
            </a:extLst>
          </p:cNvPr>
          <p:cNvSpPr/>
          <p:nvPr/>
        </p:nvSpPr>
        <p:spPr>
          <a:xfrm>
            <a:off x="4398735" y="5857533"/>
            <a:ext cx="3235579" cy="3176224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1176E5-6727-7E4C-1AEA-27CA31FB9096}"/>
              </a:ext>
            </a:extLst>
          </p:cNvPr>
          <p:cNvSpPr/>
          <p:nvPr/>
        </p:nvSpPr>
        <p:spPr>
          <a:xfrm>
            <a:off x="8064744" y="5857533"/>
            <a:ext cx="3235579" cy="317622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89C048-C02C-E7B7-555D-50D75EFF3870}"/>
              </a:ext>
            </a:extLst>
          </p:cNvPr>
          <p:cNvSpPr txBox="1"/>
          <p:nvPr/>
        </p:nvSpPr>
        <p:spPr>
          <a:xfrm>
            <a:off x="904062" y="3429000"/>
            <a:ext cx="322319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5">
                    <a:lumMod val="50000"/>
                  </a:schemeClr>
                </a:solidFill>
              </a:rPr>
              <a:t>Models Compared</a:t>
            </a:r>
          </a:p>
          <a:p>
            <a:endParaRPr lang="en-AE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AE" dirty="0" err="1"/>
              <a:t>ViT</a:t>
            </a:r>
            <a:r>
              <a:rPr lang="en-AE" dirty="0"/>
              <a:t>: Vision Transformer</a:t>
            </a:r>
          </a:p>
          <a:p>
            <a:pPr lvl="0"/>
            <a:r>
              <a:rPr lang="en-AE" dirty="0"/>
              <a:t>CLIP: Contrastive Language–Image Pre-training</a:t>
            </a:r>
          </a:p>
          <a:p>
            <a:pPr lvl="0"/>
            <a:r>
              <a:rPr lang="en-AE" dirty="0"/>
              <a:t>DINOv2: Self-supervised vision model</a:t>
            </a:r>
          </a:p>
          <a:p>
            <a:endParaRPr lang="en-AE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7B42B8-C4EF-CFB2-B205-7BCFA21E1861}"/>
              </a:ext>
            </a:extLst>
          </p:cNvPr>
          <p:cNvSpPr txBox="1"/>
          <p:nvPr/>
        </p:nvSpPr>
        <p:spPr>
          <a:xfrm>
            <a:off x="4484402" y="6343024"/>
            <a:ext cx="3223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5">
                    <a:lumMod val="75000"/>
                  </a:schemeClr>
                </a:solidFill>
              </a:rPr>
              <a:t>Methodology</a:t>
            </a:r>
          </a:p>
          <a:p>
            <a:endParaRPr lang="en-AE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AE" dirty="0"/>
              <a:t>All three pretrained models were used as frozen feature extractors, with no end-to-end fine-tuning.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E7C6A8-1947-5419-785A-D8CC62981BA3}"/>
              </a:ext>
            </a:extLst>
          </p:cNvPr>
          <p:cNvSpPr txBox="1"/>
          <p:nvPr/>
        </p:nvSpPr>
        <p:spPr>
          <a:xfrm>
            <a:off x="8224794" y="6351550"/>
            <a:ext cx="3223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Evaluation</a:t>
            </a:r>
          </a:p>
          <a:p>
            <a:endParaRPr lang="en-AE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AE" dirty="0"/>
              <a:t>Model performance was evaluated using F1-score, ROC-AUC, Precision, and Recall.</a:t>
            </a:r>
          </a:p>
        </p:txBody>
      </p:sp>
    </p:spTree>
    <p:extLst>
      <p:ext uri="{BB962C8B-B14F-4D97-AF65-F5344CB8AC3E}">
        <p14:creationId xmlns:p14="http://schemas.microsoft.com/office/powerpoint/2010/main" val="2334503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C41F-B9C1-F5BB-AADD-16117518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E206-A06C-3FFE-6678-FD34E891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and Methodology</a:t>
            </a:r>
            <a:endParaRPr lang="en-A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917CD-625F-2B16-8236-D11FF2E80B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10B4C-36E8-7BD7-CDF7-D1E5436ED3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Models and Methodology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695BB-4C3E-878C-E0FF-683A8B40C3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1438F5-40BD-2DC2-7AA5-7CD4ED83FBE1}"/>
              </a:ext>
            </a:extLst>
          </p:cNvPr>
          <p:cNvSpPr txBox="1"/>
          <p:nvPr/>
        </p:nvSpPr>
        <p:spPr>
          <a:xfrm>
            <a:off x="301752" y="1915064"/>
            <a:ext cx="11292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3">
                    <a:lumMod val="75000"/>
                  </a:schemeClr>
                </a:solidFill>
              </a:rPr>
              <a:t>Images → Preprocessing → Feature Extraction → Standardisation → Logistic Regression → Prediction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583309-51B7-E3FE-E4C7-2133E7C082F6}"/>
              </a:ext>
            </a:extLst>
          </p:cNvPr>
          <p:cNvSpPr/>
          <p:nvPr/>
        </p:nvSpPr>
        <p:spPr>
          <a:xfrm>
            <a:off x="744011" y="5857533"/>
            <a:ext cx="3235579" cy="317622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01A218-F7CC-C8FF-90DE-AF81756DF506}"/>
              </a:ext>
            </a:extLst>
          </p:cNvPr>
          <p:cNvSpPr/>
          <p:nvPr/>
        </p:nvSpPr>
        <p:spPr>
          <a:xfrm>
            <a:off x="4398735" y="3083331"/>
            <a:ext cx="3235579" cy="3176224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650E96-61A9-C978-334D-641D21C8EE19}"/>
              </a:ext>
            </a:extLst>
          </p:cNvPr>
          <p:cNvSpPr/>
          <p:nvPr/>
        </p:nvSpPr>
        <p:spPr>
          <a:xfrm>
            <a:off x="8064744" y="5857533"/>
            <a:ext cx="3235579" cy="317622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C87B9A-FE99-0BEF-148B-4DDF241459E1}"/>
              </a:ext>
            </a:extLst>
          </p:cNvPr>
          <p:cNvSpPr txBox="1"/>
          <p:nvPr/>
        </p:nvSpPr>
        <p:spPr>
          <a:xfrm>
            <a:off x="8224794" y="6351550"/>
            <a:ext cx="3223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Evaluation</a:t>
            </a:r>
          </a:p>
          <a:p>
            <a:endParaRPr lang="en-AE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AE" dirty="0"/>
              <a:t>Model performance was evaluated using F1-score, ROC-AUC, Precision, and Recall.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4780EC-EF97-7226-9A4E-D4348871096A}"/>
              </a:ext>
            </a:extLst>
          </p:cNvPr>
          <p:cNvSpPr txBox="1"/>
          <p:nvPr/>
        </p:nvSpPr>
        <p:spPr>
          <a:xfrm>
            <a:off x="830228" y="6277389"/>
            <a:ext cx="322319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5">
                    <a:lumMod val="50000"/>
                  </a:schemeClr>
                </a:solidFill>
              </a:rPr>
              <a:t>Models Compared</a:t>
            </a:r>
          </a:p>
          <a:p>
            <a:endParaRPr lang="en-AE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AE" dirty="0" err="1"/>
              <a:t>ViT</a:t>
            </a:r>
            <a:r>
              <a:rPr lang="en-AE" dirty="0"/>
              <a:t>: Vision Transformer</a:t>
            </a:r>
          </a:p>
          <a:p>
            <a:pPr lvl="0"/>
            <a:r>
              <a:rPr lang="en-AE" dirty="0"/>
              <a:t>CLIP: Contrastive Language–Image Pre-training</a:t>
            </a:r>
          </a:p>
          <a:p>
            <a:pPr lvl="0"/>
            <a:r>
              <a:rPr lang="en-AE" dirty="0"/>
              <a:t>DINOv2: Self-supervised vision model</a:t>
            </a:r>
          </a:p>
          <a:p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C10F6-DD94-1B74-6C92-F8F6309255D8}"/>
              </a:ext>
            </a:extLst>
          </p:cNvPr>
          <p:cNvSpPr txBox="1"/>
          <p:nvPr/>
        </p:nvSpPr>
        <p:spPr>
          <a:xfrm>
            <a:off x="4530197" y="3577348"/>
            <a:ext cx="3223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5">
                    <a:lumMod val="75000"/>
                  </a:schemeClr>
                </a:solidFill>
              </a:rPr>
              <a:t>Methodology</a:t>
            </a:r>
          </a:p>
          <a:p>
            <a:endParaRPr lang="en-AE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AE" dirty="0"/>
              <a:t>All three pretrained models were used as frozen feature extractors, with no end-to-end fine-tuning.</a:t>
            </a:r>
          </a:p>
        </p:txBody>
      </p:sp>
    </p:spTree>
    <p:extLst>
      <p:ext uri="{BB962C8B-B14F-4D97-AF65-F5344CB8AC3E}">
        <p14:creationId xmlns:p14="http://schemas.microsoft.com/office/powerpoint/2010/main" val="1216299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9AA99-1C5F-5B53-8AD5-0A6D776E7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ABB3-CA01-C02E-8F23-1F903866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and Methodology</a:t>
            </a:r>
            <a:endParaRPr lang="en-A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3BBA8-6008-2F68-BA97-4B6E327903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AA310-1C2B-9302-C0A0-2910943279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Models and Methodology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4F629-EDE1-BB78-D5AF-64622C46FD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BE6E82-7202-494B-C7DD-C93EBC552BC0}"/>
              </a:ext>
            </a:extLst>
          </p:cNvPr>
          <p:cNvSpPr txBox="1"/>
          <p:nvPr/>
        </p:nvSpPr>
        <p:spPr>
          <a:xfrm>
            <a:off x="301752" y="1915064"/>
            <a:ext cx="11292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3">
                    <a:lumMod val="75000"/>
                  </a:schemeClr>
                </a:solidFill>
              </a:rPr>
              <a:t>Images → Preprocessing → Feature Extraction → Standardisation → Logistic Regression → Prediction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D3A606-0DD9-DC65-E5AC-DC8D2B077AB4}"/>
              </a:ext>
            </a:extLst>
          </p:cNvPr>
          <p:cNvSpPr/>
          <p:nvPr/>
        </p:nvSpPr>
        <p:spPr>
          <a:xfrm>
            <a:off x="744011" y="5857533"/>
            <a:ext cx="3235579" cy="317622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9E3B50-1A6B-B005-CAD0-F6A928BACE2A}"/>
              </a:ext>
            </a:extLst>
          </p:cNvPr>
          <p:cNvSpPr/>
          <p:nvPr/>
        </p:nvSpPr>
        <p:spPr>
          <a:xfrm>
            <a:off x="4398735" y="5857533"/>
            <a:ext cx="3235579" cy="3176224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368630-D577-C375-600C-6C66AA1EA355}"/>
              </a:ext>
            </a:extLst>
          </p:cNvPr>
          <p:cNvSpPr/>
          <p:nvPr/>
        </p:nvSpPr>
        <p:spPr>
          <a:xfrm>
            <a:off x="8064744" y="3083331"/>
            <a:ext cx="3235579" cy="317622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71CBF3-4293-897C-C1E1-19422A8EA63C}"/>
              </a:ext>
            </a:extLst>
          </p:cNvPr>
          <p:cNvSpPr txBox="1"/>
          <p:nvPr/>
        </p:nvSpPr>
        <p:spPr>
          <a:xfrm>
            <a:off x="8224794" y="3577348"/>
            <a:ext cx="3223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Evaluation</a:t>
            </a:r>
          </a:p>
          <a:p>
            <a:endParaRPr lang="en-AE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AE" dirty="0"/>
              <a:t>Model performance was evaluated using F1-score, ROC-AUC, Precision, and Recall.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3EBE8-3B3E-C421-B55A-C4295E86D356}"/>
              </a:ext>
            </a:extLst>
          </p:cNvPr>
          <p:cNvSpPr txBox="1"/>
          <p:nvPr/>
        </p:nvSpPr>
        <p:spPr>
          <a:xfrm>
            <a:off x="830228" y="6277389"/>
            <a:ext cx="322319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5">
                    <a:lumMod val="50000"/>
                  </a:schemeClr>
                </a:solidFill>
              </a:rPr>
              <a:t>Models Compared</a:t>
            </a:r>
          </a:p>
          <a:p>
            <a:endParaRPr lang="en-AE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AE" dirty="0" err="1"/>
              <a:t>ViT</a:t>
            </a:r>
            <a:r>
              <a:rPr lang="en-AE" dirty="0"/>
              <a:t>: Vision Transformer</a:t>
            </a:r>
          </a:p>
          <a:p>
            <a:pPr lvl="0"/>
            <a:r>
              <a:rPr lang="en-AE" dirty="0"/>
              <a:t>CLIP: Contrastive Language–Image Pre-training</a:t>
            </a:r>
          </a:p>
          <a:p>
            <a:pPr lvl="0"/>
            <a:r>
              <a:rPr lang="en-AE" dirty="0"/>
              <a:t>DINOv2: Self-supervised vision model</a:t>
            </a:r>
          </a:p>
          <a:p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BD27D9-D34F-F448-F5C1-F74AF2FA0C22}"/>
              </a:ext>
            </a:extLst>
          </p:cNvPr>
          <p:cNvSpPr txBox="1"/>
          <p:nvPr/>
        </p:nvSpPr>
        <p:spPr>
          <a:xfrm>
            <a:off x="4484402" y="6277389"/>
            <a:ext cx="3223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5">
                    <a:lumMod val="75000"/>
                  </a:schemeClr>
                </a:solidFill>
              </a:rPr>
              <a:t>Methodology</a:t>
            </a:r>
          </a:p>
          <a:p>
            <a:endParaRPr lang="en-AE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AE" dirty="0"/>
              <a:t>All three pretrained models were used as frozen feature extractors, with no end-to-end fine-tuning.</a:t>
            </a:r>
          </a:p>
        </p:txBody>
      </p:sp>
    </p:spTree>
    <p:extLst>
      <p:ext uri="{BB962C8B-B14F-4D97-AF65-F5344CB8AC3E}">
        <p14:creationId xmlns:p14="http://schemas.microsoft.com/office/powerpoint/2010/main" val="3814802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5AB49-E04D-B466-CE6F-85FD7035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5D06-30CB-A88C-01E4-1FDBA288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Preprocessing Pipeline</a:t>
            </a:r>
            <a:endParaRPr lang="en-A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68AF4-2013-86FB-1156-E0BC999F4F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54D0E-C377-2093-11C2-91BA1AD35D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Preprocessing Pipeline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E67E3-0595-94DB-5F2B-2BD507DDB5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A464C-E3DD-260C-8FE7-58FED84D5A0C}"/>
              </a:ext>
            </a:extLst>
          </p:cNvPr>
          <p:cNvSpPr txBox="1"/>
          <p:nvPr/>
        </p:nvSpPr>
        <p:spPr>
          <a:xfrm>
            <a:off x="850567" y="2045663"/>
            <a:ext cx="98300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sz="2000" dirty="0"/>
              <a:t>Image Preparation: Images were loaded and converted to RGB.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sz="2000" dirty="0"/>
              <a:t>Model-Specific Processing: Each model's processor applied the required resizing, normalisation and input formatting.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sz="2000" dirty="0"/>
              <a:t>Dataset Splitting: Official training and validation splits were kept separate.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sz="2000" dirty="0"/>
              <a:t>Label Preparation: Separate binary labels were prepared for framing, blur, rotation and unrecognizability, using a minimum of three annotation votes for a positive label.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sz="2000" dirty="0"/>
              <a:t>Data Integrity Checks: Checked missing or rejected entries and matched image filenames, extracted features and annotations.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sz="2000" dirty="0"/>
              <a:t>Feature Extraction: Extracted features from the frozen pretrained encoders and stored them for reuse.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sz="2000" dirty="0"/>
              <a:t>Reproducibility: Used a fixed random seed and began with a subset of 3,000 training and 750 validation images before extending the experiment to the full dataset.</a:t>
            </a:r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AEA5D2DA-7C0C-6745-E0E3-05F8AAEF7D92}"/>
              </a:ext>
            </a:extLst>
          </p:cNvPr>
          <p:cNvSpPr/>
          <p:nvPr/>
        </p:nvSpPr>
        <p:spPr>
          <a:xfrm>
            <a:off x="154983" y="5409277"/>
            <a:ext cx="12545620" cy="1914733"/>
          </a:xfrm>
          <a:custGeom>
            <a:avLst/>
            <a:gdLst>
              <a:gd name="csX0" fmla="*/ 0 w 12545620"/>
              <a:gd name="csY0" fmla="*/ 1394479 h 1914733"/>
              <a:gd name="csX1" fmla="*/ 1921790 w 12545620"/>
              <a:gd name="csY1" fmla="*/ 728052 h 1914733"/>
              <a:gd name="csX2" fmla="*/ 4664990 w 12545620"/>
              <a:gd name="csY2" fmla="*/ 1285991 h 1914733"/>
              <a:gd name="csX3" fmla="*/ 11980190 w 12545620"/>
              <a:gd name="csY3" fmla="*/ 123618 h 1914733"/>
              <a:gd name="csX4" fmla="*/ 12042183 w 12545620"/>
              <a:gd name="csY4" fmla="*/ 185611 h 1914733"/>
              <a:gd name="csX5" fmla="*/ 11918197 w 12545620"/>
              <a:gd name="csY5" fmla="*/ 1471970 h 1914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545620" h="1914733">
                <a:moveTo>
                  <a:pt x="0" y="1394479"/>
                </a:moveTo>
                <a:cubicBezTo>
                  <a:pt x="572146" y="1070306"/>
                  <a:pt x="1144292" y="746133"/>
                  <a:pt x="1921790" y="728052"/>
                </a:cubicBezTo>
                <a:cubicBezTo>
                  <a:pt x="2699288" y="709971"/>
                  <a:pt x="2988590" y="1386730"/>
                  <a:pt x="4664990" y="1285991"/>
                </a:cubicBezTo>
                <a:cubicBezTo>
                  <a:pt x="6341390" y="1185252"/>
                  <a:pt x="10750658" y="307015"/>
                  <a:pt x="11980190" y="123618"/>
                </a:cubicBezTo>
                <a:cubicBezTo>
                  <a:pt x="13209722" y="-59779"/>
                  <a:pt x="12052515" y="-39114"/>
                  <a:pt x="12042183" y="185611"/>
                </a:cubicBezTo>
                <a:cubicBezTo>
                  <a:pt x="12031851" y="410336"/>
                  <a:pt x="12057682" y="2908146"/>
                  <a:pt x="11918197" y="147197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467B4BF2-BAAF-4667-C730-F4BE6CC59CEE}"/>
              </a:ext>
            </a:extLst>
          </p:cNvPr>
          <p:cNvSpPr/>
          <p:nvPr/>
        </p:nvSpPr>
        <p:spPr>
          <a:xfrm>
            <a:off x="307383" y="5561677"/>
            <a:ext cx="12545620" cy="1914733"/>
          </a:xfrm>
          <a:custGeom>
            <a:avLst/>
            <a:gdLst>
              <a:gd name="csX0" fmla="*/ 0 w 12545620"/>
              <a:gd name="csY0" fmla="*/ 1394479 h 1914733"/>
              <a:gd name="csX1" fmla="*/ 1921790 w 12545620"/>
              <a:gd name="csY1" fmla="*/ 728052 h 1914733"/>
              <a:gd name="csX2" fmla="*/ 4664990 w 12545620"/>
              <a:gd name="csY2" fmla="*/ 1285991 h 1914733"/>
              <a:gd name="csX3" fmla="*/ 11980190 w 12545620"/>
              <a:gd name="csY3" fmla="*/ 123618 h 1914733"/>
              <a:gd name="csX4" fmla="*/ 12042183 w 12545620"/>
              <a:gd name="csY4" fmla="*/ 185611 h 1914733"/>
              <a:gd name="csX5" fmla="*/ 11918197 w 12545620"/>
              <a:gd name="csY5" fmla="*/ 1471970 h 1914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545620" h="1914733">
                <a:moveTo>
                  <a:pt x="0" y="1394479"/>
                </a:moveTo>
                <a:cubicBezTo>
                  <a:pt x="572146" y="1070306"/>
                  <a:pt x="1144292" y="746133"/>
                  <a:pt x="1921790" y="728052"/>
                </a:cubicBezTo>
                <a:cubicBezTo>
                  <a:pt x="2699288" y="709971"/>
                  <a:pt x="2988590" y="1386730"/>
                  <a:pt x="4664990" y="1285991"/>
                </a:cubicBezTo>
                <a:cubicBezTo>
                  <a:pt x="6341390" y="1185252"/>
                  <a:pt x="10750658" y="307015"/>
                  <a:pt x="11980190" y="123618"/>
                </a:cubicBezTo>
                <a:cubicBezTo>
                  <a:pt x="13209722" y="-59779"/>
                  <a:pt x="12052515" y="-39114"/>
                  <a:pt x="12042183" y="185611"/>
                </a:cubicBezTo>
                <a:cubicBezTo>
                  <a:pt x="12031851" y="410336"/>
                  <a:pt x="12057682" y="2908146"/>
                  <a:pt x="11918197" y="1471970"/>
                </a:cubicBezTo>
              </a:path>
            </a:pathLst>
          </a:cu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72216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FD581-7456-3CAC-59AF-67F0AB8B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BB18-DD41-7B3F-9DCB-A08DA640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Feature Extraction and Classifier Training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213AC-2E7E-E099-765E-CC3FA1CE1C0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C3A6B-2A65-5FE9-9355-3084546458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E" dirty="0"/>
              <a:t>Training &amp; Fine-Tuning Process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C0429-5AC8-1A4F-233F-A6E338A4BB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858D6221-0F76-B777-DD91-08D8996B0D02}"/>
              </a:ext>
            </a:extLst>
          </p:cNvPr>
          <p:cNvSpPr/>
          <p:nvPr/>
        </p:nvSpPr>
        <p:spPr>
          <a:xfrm>
            <a:off x="154983" y="5409277"/>
            <a:ext cx="12545620" cy="1914733"/>
          </a:xfrm>
          <a:custGeom>
            <a:avLst/>
            <a:gdLst>
              <a:gd name="csX0" fmla="*/ 0 w 12545620"/>
              <a:gd name="csY0" fmla="*/ 1394479 h 1914733"/>
              <a:gd name="csX1" fmla="*/ 1921790 w 12545620"/>
              <a:gd name="csY1" fmla="*/ 728052 h 1914733"/>
              <a:gd name="csX2" fmla="*/ 4664990 w 12545620"/>
              <a:gd name="csY2" fmla="*/ 1285991 h 1914733"/>
              <a:gd name="csX3" fmla="*/ 11980190 w 12545620"/>
              <a:gd name="csY3" fmla="*/ 123618 h 1914733"/>
              <a:gd name="csX4" fmla="*/ 12042183 w 12545620"/>
              <a:gd name="csY4" fmla="*/ 185611 h 1914733"/>
              <a:gd name="csX5" fmla="*/ 11918197 w 12545620"/>
              <a:gd name="csY5" fmla="*/ 1471970 h 1914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545620" h="1914733">
                <a:moveTo>
                  <a:pt x="0" y="1394479"/>
                </a:moveTo>
                <a:cubicBezTo>
                  <a:pt x="572146" y="1070306"/>
                  <a:pt x="1144292" y="746133"/>
                  <a:pt x="1921790" y="728052"/>
                </a:cubicBezTo>
                <a:cubicBezTo>
                  <a:pt x="2699288" y="709971"/>
                  <a:pt x="2988590" y="1386730"/>
                  <a:pt x="4664990" y="1285991"/>
                </a:cubicBezTo>
                <a:cubicBezTo>
                  <a:pt x="6341390" y="1185252"/>
                  <a:pt x="10750658" y="307015"/>
                  <a:pt x="11980190" y="123618"/>
                </a:cubicBezTo>
                <a:cubicBezTo>
                  <a:pt x="13209722" y="-59779"/>
                  <a:pt x="12052515" y="-39114"/>
                  <a:pt x="12042183" y="185611"/>
                </a:cubicBezTo>
                <a:cubicBezTo>
                  <a:pt x="12031851" y="410336"/>
                  <a:pt x="12057682" y="2908146"/>
                  <a:pt x="11918197" y="147197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300B12DC-0948-EE35-ADE4-A1FBDE6D9A24}"/>
              </a:ext>
            </a:extLst>
          </p:cNvPr>
          <p:cNvSpPr/>
          <p:nvPr/>
        </p:nvSpPr>
        <p:spPr>
          <a:xfrm>
            <a:off x="307383" y="5561677"/>
            <a:ext cx="12545620" cy="1914733"/>
          </a:xfrm>
          <a:custGeom>
            <a:avLst/>
            <a:gdLst>
              <a:gd name="csX0" fmla="*/ 0 w 12545620"/>
              <a:gd name="csY0" fmla="*/ 1394479 h 1914733"/>
              <a:gd name="csX1" fmla="*/ 1921790 w 12545620"/>
              <a:gd name="csY1" fmla="*/ 728052 h 1914733"/>
              <a:gd name="csX2" fmla="*/ 4664990 w 12545620"/>
              <a:gd name="csY2" fmla="*/ 1285991 h 1914733"/>
              <a:gd name="csX3" fmla="*/ 11980190 w 12545620"/>
              <a:gd name="csY3" fmla="*/ 123618 h 1914733"/>
              <a:gd name="csX4" fmla="*/ 12042183 w 12545620"/>
              <a:gd name="csY4" fmla="*/ 185611 h 1914733"/>
              <a:gd name="csX5" fmla="*/ 11918197 w 12545620"/>
              <a:gd name="csY5" fmla="*/ 1471970 h 1914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545620" h="1914733">
                <a:moveTo>
                  <a:pt x="0" y="1394479"/>
                </a:moveTo>
                <a:cubicBezTo>
                  <a:pt x="572146" y="1070306"/>
                  <a:pt x="1144292" y="746133"/>
                  <a:pt x="1921790" y="728052"/>
                </a:cubicBezTo>
                <a:cubicBezTo>
                  <a:pt x="2699288" y="709971"/>
                  <a:pt x="2988590" y="1386730"/>
                  <a:pt x="4664990" y="1285991"/>
                </a:cubicBezTo>
                <a:cubicBezTo>
                  <a:pt x="6341390" y="1185252"/>
                  <a:pt x="10750658" y="307015"/>
                  <a:pt x="11980190" y="123618"/>
                </a:cubicBezTo>
                <a:cubicBezTo>
                  <a:pt x="13209722" y="-59779"/>
                  <a:pt x="12052515" y="-39114"/>
                  <a:pt x="12042183" y="185611"/>
                </a:cubicBezTo>
                <a:cubicBezTo>
                  <a:pt x="12031851" y="410336"/>
                  <a:pt x="12057682" y="2908146"/>
                  <a:pt x="11918197" y="1471970"/>
                </a:cubicBezTo>
              </a:path>
            </a:pathLst>
          </a:cu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2E19C2-8719-FBDA-CC00-1CD55D6B12B5}"/>
              </a:ext>
            </a:extLst>
          </p:cNvPr>
          <p:cNvSpPr/>
          <p:nvPr/>
        </p:nvSpPr>
        <p:spPr>
          <a:xfrm>
            <a:off x="1053885" y="1968285"/>
            <a:ext cx="10246438" cy="4510007"/>
          </a:xfrm>
          <a:prstGeom prst="rect">
            <a:avLst/>
          </a:prstGeom>
          <a:noFill/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BB74D8-6A4C-7AD5-E919-42F016184B49}"/>
              </a:ext>
            </a:extLst>
          </p:cNvPr>
          <p:cNvSpPr txBox="1"/>
          <p:nvPr/>
        </p:nvSpPr>
        <p:spPr>
          <a:xfrm>
            <a:off x="1526707" y="2702332"/>
            <a:ext cx="913858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E" sz="2100" dirty="0"/>
              <a:t>Used frozen pretrained encoders; no end-to-end fine-tuning.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E" sz="2100" dirty="0"/>
              <a:t>Extracted features from </a:t>
            </a:r>
            <a:r>
              <a:rPr lang="en-AE" sz="2100" dirty="0" err="1"/>
              <a:t>ViT</a:t>
            </a:r>
            <a:r>
              <a:rPr lang="en-AE" sz="2100" dirty="0"/>
              <a:t>, CLIP and DINOv2.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E" sz="2100" dirty="0"/>
              <a:t>Trained separate Logistic Regression classifiers for each of the four tasks.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E" sz="2100" dirty="0"/>
              <a:t>Applied </a:t>
            </a:r>
            <a:r>
              <a:rPr lang="en-AE" sz="2100" dirty="0" err="1"/>
              <a:t>StandardScaler</a:t>
            </a:r>
            <a:r>
              <a:rPr lang="en-AE" sz="2100" dirty="0"/>
              <a:t> and balanced class weights to address class imbalance.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E" sz="2100" dirty="0"/>
              <a:t>Tested regularisation using Grid Search and 5-fold Stratified Cross-Validation.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E" sz="2100" dirty="0"/>
              <a:t>Selected decision thresholds using training out-of-fold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sz="2100" dirty="0"/>
              <a:t>Final Experiment: 23,431 training images and 7,750 validation images.</a:t>
            </a:r>
          </a:p>
        </p:txBody>
      </p:sp>
    </p:spTree>
    <p:extLst>
      <p:ext uri="{BB962C8B-B14F-4D97-AF65-F5344CB8AC3E}">
        <p14:creationId xmlns:p14="http://schemas.microsoft.com/office/powerpoint/2010/main" val="35008227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D9E4D-B92B-539B-45E6-84724CE55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3B59-1C95-CC3B-5018-89B9D2275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Evaluation Metrics &amp; Results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CBEEA-F238-8A69-0C9C-795D17B20F2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D1DF5-DC5C-87DA-2BDA-FE15A04A97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E" dirty="0"/>
              <a:t>Evaluation Metrics &amp; Results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E9743-9873-B893-900D-0DD4ED61C7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468AD3CB-EF1C-975F-4124-2DB04F8487EA}"/>
              </a:ext>
            </a:extLst>
          </p:cNvPr>
          <p:cNvSpPr/>
          <p:nvPr/>
        </p:nvSpPr>
        <p:spPr>
          <a:xfrm>
            <a:off x="154983" y="5409277"/>
            <a:ext cx="12545620" cy="1914733"/>
          </a:xfrm>
          <a:custGeom>
            <a:avLst/>
            <a:gdLst>
              <a:gd name="csX0" fmla="*/ 0 w 12545620"/>
              <a:gd name="csY0" fmla="*/ 1394479 h 1914733"/>
              <a:gd name="csX1" fmla="*/ 1921790 w 12545620"/>
              <a:gd name="csY1" fmla="*/ 728052 h 1914733"/>
              <a:gd name="csX2" fmla="*/ 4664990 w 12545620"/>
              <a:gd name="csY2" fmla="*/ 1285991 h 1914733"/>
              <a:gd name="csX3" fmla="*/ 11980190 w 12545620"/>
              <a:gd name="csY3" fmla="*/ 123618 h 1914733"/>
              <a:gd name="csX4" fmla="*/ 12042183 w 12545620"/>
              <a:gd name="csY4" fmla="*/ 185611 h 1914733"/>
              <a:gd name="csX5" fmla="*/ 11918197 w 12545620"/>
              <a:gd name="csY5" fmla="*/ 1471970 h 1914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545620" h="1914733">
                <a:moveTo>
                  <a:pt x="0" y="1394479"/>
                </a:moveTo>
                <a:cubicBezTo>
                  <a:pt x="572146" y="1070306"/>
                  <a:pt x="1144292" y="746133"/>
                  <a:pt x="1921790" y="728052"/>
                </a:cubicBezTo>
                <a:cubicBezTo>
                  <a:pt x="2699288" y="709971"/>
                  <a:pt x="2988590" y="1386730"/>
                  <a:pt x="4664990" y="1285991"/>
                </a:cubicBezTo>
                <a:cubicBezTo>
                  <a:pt x="6341390" y="1185252"/>
                  <a:pt x="10750658" y="307015"/>
                  <a:pt x="11980190" y="123618"/>
                </a:cubicBezTo>
                <a:cubicBezTo>
                  <a:pt x="13209722" y="-59779"/>
                  <a:pt x="12052515" y="-39114"/>
                  <a:pt x="12042183" y="185611"/>
                </a:cubicBezTo>
                <a:cubicBezTo>
                  <a:pt x="12031851" y="410336"/>
                  <a:pt x="12057682" y="2908146"/>
                  <a:pt x="11918197" y="1471970"/>
                </a:cubicBezTo>
              </a:path>
            </a:pathLst>
          </a:custGeom>
          <a:ln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81E7D6D0-EFBB-ADBB-7DAC-4F8AA5266049}"/>
              </a:ext>
            </a:extLst>
          </p:cNvPr>
          <p:cNvSpPr/>
          <p:nvPr/>
        </p:nvSpPr>
        <p:spPr>
          <a:xfrm>
            <a:off x="307383" y="5561677"/>
            <a:ext cx="12545620" cy="1914733"/>
          </a:xfrm>
          <a:custGeom>
            <a:avLst/>
            <a:gdLst>
              <a:gd name="csX0" fmla="*/ 0 w 12545620"/>
              <a:gd name="csY0" fmla="*/ 1394479 h 1914733"/>
              <a:gd name="csX1" fmla="*/ 1921790 w 12545620"/>
              <a:gd name="csY1" fmla="*/ 728052 h 1914733"/>
              <a:gd name="csX2" fmla="*/ 4664990 w 12545620"/>
              <a:gd name="csY2" fmla="*/ 1285991 h 1914733"/>
              <a:gd name="csX3" fmla="*/ 11980190 w 12545620"/>
              <a:gd name="csY3" fmla="*/ 123618 h 1914733"/>
              <a:gd name="csX4" fmla="*/ 12042183 w 12545620"/>
              <a:gd name="csY4" fmla="*/ 185611 h 1914733"/>
              <a:gd name="csX5" fmla="*/ 11918197 w 12545620"/>
              <a:gd name="csY5" fmla="*/ 1471970 h 1914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545620" h="1914733">
                <a:moveTo>
                  <a:pt x="0" y="1394479"/>
                </a:moveTo>
                <a:cubicBezTo>
                  <a:pt x="572146" y="1070306"/>
                  <a:pt x="1144292" y="746133"/>
                  <a:pt x="1921790" y="728052"/>
                </a:cubicBezTo>
                <a:cubicBezTo>
                  <a:pt x="2699288" y="709971"/>
                  <a:pt x="2988590" y="1386730"/>
                  <a:pt x="4664990" y="1285991"/>
                </a:cubicBezTo>
                <a:cubicBezTo>
                  <a:pt x="6341390" y="1185252"/>
                  <a:pt x="10750658" y="307015"/>
                  <a:pt x="11980190" y="123618"/>
                </a:cubicBezTo>
                <a:cubicBezTo>
                  <a:pt x="13209722" y="-59779"/>
                  <a:pt x="12052515" y="-39114"/>
                  <a:pt x="12042183" y="185611"/>
                </a:cubicBezTo>
                <a:cubicBezTo>
                  <a:pt x="12031851" y="410336"/>
                  <a:pt x="12057682" y="2908146"/>
                  <a:pt x="11918197" y="1471970"/>
                </a:cubicBezTo>
              </a:path>
            </a:pathLst>
          </a:custGeom>
          <a:noFill/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15631-6D7F-0B14-23BC-2DB8E8F158FB}"/>
              </a:ext>
            </a:extLst>
          </p:cNvPr>
          <p:cNvSpPr/>
          <p:nvPr/>
        </p:nvSpPr>
        <p:spPr>
          <a:xfrm>
            <a:off x="1053885" y="1768998"/>
            <a:ext cx="10491152" cy="659153"/>
          </a:xfrm>
          <a:prstGeom prst="rect">
            <a:avLst/>
          </a:prstGeom>
          <a:noFill/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D035A-2EB7-42FB-0067-54EA4DF27DCF}"/>
              </a:ext>
            </a:extLst>
          </p:cNvPr>
          <p:cNvSpPr txBox="1"/>
          <p:nvPr/>
        </p:nvSpPr>
        <p:spPr>
          <a:xfrm>
            <a:off x="1053885" y="1881771"/>
            <a:ext cx="1030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b="1" dirty="0"/>
              <a:t>Evaluation Metrics: F1-score, ROC-AUC, Precision, Recall, Balanced Accuracy and Average Precision.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56DAFE-767A-E548-9FD3-0CA2896869A0}"/>
              </a:ext>
            </a:extLst>
          </p:cNvPr>
          <p:cNvSpPr txBox="1"/>
          <p:nvPr/>
        </p:nvSpPr>
        <p:spPr>
          <a:xfrm>
            <a:off x="449361" y="6112962"/>
            <a:ext cx="11956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dirty="0"/>
              <a:t>CLIP achieved the highest F1-scores for framing (0.670), blur (0.750) and </a:t>
            </a:r>
            <a:r>
              <a:rPr lang="en-AE" dirty="0" err="1"/>
              <a:t>unrecognisability</a:t>
            </a:r>
            <a:r>
              <a:rPr lang="en-AE" dirty="0"/>
              <a:t> (0.721)</a:t>
            </a:r>
          </a:p>
          <a:p>
            <a:r>
              <a:rPr lang="en-AE" dirty="0"/>
              <a:t>while DINOv2 performed best for rotation (0.557). </a:t>
            </a:r>
            <a:r>
              <a:rPr lang="en-AE" dirty="0" err="1"/>
              <a:t>ViT</a:t>
            </a:r>
            <a:r>
              <a:rPr lang="en-AE" dirty="0"/>
              <a:t> had lower F1-scores than the other models across all four tasks.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34A395-42B6-40CA-F5FD-3626D21AE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617" y="2512831"/>
            <a:ext cx="6684333" cy="362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43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0E05B-492A-E99B-9E92-E5C378382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10C6-6A32-3DA3-3643-140A30C32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Evaluation Metrics &amp; Results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4E553-DD50-34C0-444A-23B14AB5E1B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2B3FD-8987-C0B5-3D07-2E9DA6C875A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E" dirty="0"/>
              <a:t>Evaluation Metrics &amp; Results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49350-084A-7437-D82E-5416A846E7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B3957FED-681D-FFB2-CEFA-C677E038FCA5}"/>
              </a:ext>
            </a:extLst>
          </p:cNvPr>
          <p:cNvSpPr/>
          <p:nvPr/>
        </p:nvSpPr>
        <p:spPr>
          <a:xfrm>
            <a:off x="154983" y="5409277"/>
            <a:ext cx="12545620" cy="1914733"/>
          </a:xfrm>
          <a:custGeom>
            <a:avLst/>
            <a:gdLst>
              <a:gd name="csX0" fmla="*/ 0 w 12545620"/>
              <a:gd name="csY0" fmla="*/ 1394479 h 1914733"/>
              <a:gd name="csX1" fmla="*/ 1921790 w 12545620"/>
              <a:gd name="csY1" fmla="*/ 728052 h 1914733"/>
              <a:gd name="csX2" fmla="*/ 4664990 w 12545620"/>
              <a:gd name="csY2" fmla="*/ 1285991 h 1914733"/>
              <a:gd name="csX3" fmla="*/ 11980190 w 12545620"/>
              <a:gd name="csY3" fmla="*/ 123618 h 1914733"/>
              <a:gd name="csX4" fmla="*/ 12042183 w 12545620"/>
              <a:gd name="csY4" fmla="*/ 185611 h 1914733"/>
              <a:gd name="csX5" fmla="*/ 11918197 w 12545620"/>
              <a:gd name="csY5" fmla="*/ 1471970 h 1914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545620" h="1914733">
                <a:moveTo>
                  <a:pt x="0" y="1394479"/>
                </a:moveTo>
                <a:cubicBezTo>
                  <a:pt x="572146" y="1070306"/>
                  <a:pt x="1144292" y="746133"/>
                  <a:pt x="1921790" y="728052"/>
                </a:cubicBezTo>
                <a:cubicBezTo>
                  <a:pt x="2699288" y="709971"/>
                  <a:pt x="2988590" y="1386730"/>
                  <a:pt x="4664990" y="1285991"/>
                </a:cubicBezTo>
                <a:cubicBezTo>
                  <a:pt x="6341390" y="1185252"/>
                  <a:pt x="10750658" y="307015"/>
                  <a:pt x="11980190" y="123618"/>
                </a:cubicBezTo>
                <a:cubicBezTo>
                  <a:pt x="13209722" y="-59779"/>
                  <a:pt x="12052515" y="-39114"/>
                  <a:pt x="12042183" y="185611"/>
                </a:cubicBezTo>
                <a:cubicBezTo>
                  <a:pt x="12031851" y="410336"/>
                  <a:pt x="12057682" y="2908146"/>
                  <a:pt x="11918197" y="1471970"/>
                </a:cubicBezTo>
              </a:path>
            </a:pathLst>
          </a:custGeom>
          <a:ln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9AEDFC5B-B288-EA77-F63C-43CBB8256038}"/>
              </a:ext>
            </a:extLst>
          </p:cNvPr>
          <p:cNvSpPr/>
          <p:nvPr/>
        </p:nvSpPr>
        <p:spPr>
          <a:xfrm>
            <a:off x="307383" y="5561677"/>
            <a:ext cx="12545620" cy="1914733"/>
          </a:xfrm>
          <a:custGeom>
            <a:avLst/>
            <a:gdLst>
              <a:gd name="csX0" fmla="*/ 0 w 12545620"/>
              <a:gd name="csY0" fmla="*/ 1394479 h 1914733"/>
              <a:gd name="csX1" fmla="*/ 1921790 w 12545620"/>
              <a:gd name="csY1" fmla="*/ 728052 h 1914733"/>
              <a:gd name="csX2" fmla="*/ 4664990 w 12545620"/>
              <a:gd name="csY2" fmla="*/ 1285991 h 1914733"/>
              <a:gd name="csX3" fmla="*/ 11980190 w 12545620"/>
              <a:gd name="csY3" fmla="*/ 123618 h 1914733"/>
              <a:gd name="csX4" fmla="*/ 12042183 w 12545620"/>
              <a:gd name="csY4" fmla="*/ 185611 h 1914733"/>
              <a:gd name="csX5" fmla="*/ 11918197 w 12545620"/>
              <a:gd name="csY5" fmla="*/ 1471970 h 1914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545620" h="1914733">
                <a:moveTo>
                  <a:pt x="0" y="1394479"/>
                </a:moveTo>
                <a:cubicBezTo>
                  <a:pt x="572146" y="1070306"/>
                  <a:pt x="1144292" y="746133"/>
                  <a:pt x="1921790" y="728052"/>
                </a:cubicBezTo>
                <a:cubicBezTo>
                  <a:pt x="2699288" y="709971"/>
                  <a:pt x="2988590" y="1386730"/>
                  <a:pt x="4664990" y="1285991"/>
                </a:cubicBezTo>
                <a:cubicBezTo>
                  <a:pt x="6341390" y="1185252"/>
                  <a:pt x="10750658" y="307015"/>
                  <a:pt x="11980190" y="123618"/>
                </a:cubicBezTo>
                <a:cubicBezTo>
                  <a:pt x="13209722" y="-59779"/>
                  <a:pt x="12052515" y="-39114"/>
                  <a:pt x="12042183" y="185611"/>
                </a:cubicBezTo>
                <a:cubicBezTo>
                  <a:pt x="12031851" y="410336"/>
                  <a:pt x="12057682" y="2908146"/>
                  <a:pt x="11918197" y="1471970"/>
                </a:cubicBezTo>
              </a:path>
            </a:pathLst>
          </a:custGeom>
          <a:noFill/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036EA8-184E-41B2-A9AA-119D8799BF47}"/>
              </a:ext>
            </a:extLst>
          </p:cNvPr>
          <p:cNvSpPr/>
          <p:nvPr/>
        </p:nvSpPr>
        <p:spPr>
          <a:xfrm>
            <a:off x="1053885" y="1768998"/>
            <a:ext cx="10491152" cy="659153"/>
          </a:xfrm>
          <a:prstGeom prst="rect">
            <a:avLst/>
          </a:prstGeom>
          <a:noFill/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232B42-0C31-120F-A0CE-2A0CD0911D90}"/>
              </a:ext>
            </a:extLst>
          </p:cNvPr>
          <p:cNvSpPr txBox="1"/>
          <p:nvPr/>
        </p:nvSpPr>
        <p:spPr>
          <a:xfrm>
            <a:off x="1053885" y="1881771"/>
            <a:ext cx="1030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b="1" dirty="0"/>
              <a:t>Evaluation Metrics: F1-score, ROC-AUC, Precision, Recall, Balanced Accuracy and Average Precision.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1F006-AE83-82D9-EAB7-6BB88C4D2148}"/>
              </a:ext>
            </a:extLst>
          </p:cNvPr>
          <p:cNvSpPr txBox="1"/>
          <p:nvPr/>
        </p:nvSpPr>
        <p:spPr>
          <a:xfrm>
            <a:off x="449361" y="6112962"/>
            <a:ext cx="101291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dirty="0"/>
              <a:t>CLIP achieved the highest ROC-AUC for framing (0.806), blur (0.907) and unrecognizability (0.959), </a:t>
            </a:r>
          </a:p>
          <a:p>
            <a:r>
              <a:rPr lang="en-AE" dirty="0"/>
              <a:t>while DINOv2 performed best for rotation (0.896).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15D863-61AD-A3C0-162B-D57557BDF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018" y="2470064"/>
            <a:ext cx="6681964" cy="366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8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F7631-116F-51EF-3A3A-E342B11B4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F2429-0E54-CC82-B41A-44D587D9C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Ethical &amp; Societal Implications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A1121-92DE-284B-B96E-F5F65EED3E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F7F03-57C3-93AE-E12F-A1AE0D7B45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E" dirty="0"/>
              <a:t>Ethical &amp; Societal Implications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9E96B-09E2-CBF5-9995-ACE67BCD4A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1A3497-1EAF-1FE8-06E7-E2637EB20FF5}"/>
              </a:ext>
            </a:extLst>
          </p:cNvPr>
          <p:cNvSpPr/>
          <p:nvPr/>
        </p:nvSpPr>
        <p:spPr>
          <a:xfrm>
            <a:off x="301752" y="1995038"/>
            <a:ext cx="3019245" cy="4555094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3EE828-7938-4D6F-8B11-5F8FFA61F2F4}"/>
              </a:ext>
            </a:extLst>
          </p:cNvPr>
          <p:cNvSpPr/>
          <p:nvPr/>
        </p:nvSpPr>
        <p:spPr>
          <a:xfrm>
            <a:off x="3707137" y="1995037"/>
            <a:ext cx="3019245" cy="455509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97141B-6ABB-8D4D-193D-3D9ACABFA8A2}"/>
              </a:ext>
            </a:extLst>
          </p:cNvPr>
          <p:cNvSpPr/>
          <p:nvPr/>
        </p:nvSpPr>
        <p:spPr>
          <a:xfrm>
            <a:off x="7112522" y="1995036"/>
            <a:ext cx="3019245" cy="455509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51F3B3-C8E5-C542-B719-50DAEEA4AD55}"/>
              </a:ext>
            </a:extLst>
          </p:cNvPr>
          <p:cNvSpPr/>
          <p:nvPr/>
        </p:nvSpPr>
        <p:spPr>
          <a:xfrm>
            <a:off x="10517907" y="1995035"/>
            <a:ext cx="3019245" cy="4555094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ED55D9-0366-95D0-4C93-4AA40B008F0E}"/>
              </a:ext>
            </a:extLst>
          </p:cNvPr>
          <p:cNvSpPr txBox="1"/>
          <p:nvPr/>
        </p:nvSpPr>
        <p:spPr>
          <a:xfrm rot="10800000" flipV="1">
            <a:off x="301751" y="2400568"/>
            <a:ext cx="26038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6">
                    <a:lumMod val="75000"/>
                  </a:schemeClr>
                </a:solidFill>
              </a:rPr>
              <a:t>Accessibility: </a:t>
            </a:r>
          </a:p>
          <a:p>
            <a:endParaRPr lang="en-AE" sz="2200" dirty="0"/>
          </a:p>
          <a:p>
            <a:r>
              <a:rPr lang="en-AE" sz="2200" dirty="0"/>
              <a:t>Image-quality detection could help users identify when a photograph needs to be retaken.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1D12B8-19E5-A973-4E29-08947E173C64}"/>
              </a:ext>
            </a:extLst>
          </p:cNvPr>
          <p:cNvSpPr txBox="1"/>
          <p:nvPr/>
        </p:nvSpPr>
        <p:spPr>
          <a:xfrm rot="10800000" flipV="1">
            <a:off x="3914813" y="2400568"/>
            <a:ext cx="28115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Errors:</a:t>
            </a:r>
          </a:p>
          <a:p>
            <a:endParaRPr lang="en-AE" sz="2400" dirty="0"/>
          </a:p>
          <a:p>
            <a:r>
              <a:rPr lang="en-AE" sz="2200" dirty="0"/>
              <a:t>False negatives may allow poor-quality images to pass through, while false positives may cause unnecessary retakes.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11320C-6C53-97A6-C29A-EFE3B4EAA41E}"/>
              </a:ext>
            </a:extLst>
          </p:cNvPr>
          <p:cNvSpPr txBox="1"/>
          <p:nvPr/>
        </p:nvSpPr>
        <p:spPr>
          <a:xfrm rot="10800000" flipV="1">
            <a:off x="7308956" y="2400568"/>
            <a:ext cx="281156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Privacy:</a:t>
            </a:r>
          </a:p>
          <a:p>
            <a:endParaRPr lang="en-AE" sz="2400" dirty="0"/>
          </a:p>
          <a:p>
            <a:r>
              <a:rPr lang="en-AE" sz="2200" dirty="0"/>
              <a:t>Images may contain faces or sensitive personal information and must be handled carefully.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473AE7-C7E1-37E0-6F1D-B61D8EA67546}"/>
              </a:ext>
            </a:extLst>
          </p:cNvPr>
          <p:cNvSpPr txBox="1"/>
          <p:nvPr/>
        </p:nvSpPr>
        <p:spPr>
          <a:xfrm rot="10800000" flipV="1">
            <a:off x="10517906" y="2302907"/>
            <a:ext cx="301924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Limitations:</a:t>
            </a:r>
          </a:p>
          <a:p>
            <a:endParaRPr lang="en-AE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AE" sz="2000" dirty="0"/>
              <a:t>-Evaluation was limited to the training and validation splits; test-set performance remains unverified.</a:t>
            </a:r>
          </a:p>
          <a:p>
            <a:pPr lvl="0"/>
            <a:endParaRPr lang="en-AE" sz="2000" dirty="0"/>
          </a:p>
          <a:p>
            <a:pPr lvl="0"/>
            <a:r>
              <a:rPr lang="en-AE" sz="2000" dirty="0"/>
              <a:t>-Further testing on other datasets and with blind and low-vision users is needed to assess real-world reliability.</a:t>
            </a:r>
          </a:p>
          <a:p>
            <a:endParaRPr lang="en-AE" sz="2200" dirty="0"/>
          </a:p>
        </p:txBody>
      </p:sp>
    </p:spTree>
    <p:extLst>
      <p:ext uri="{BB962C8B-B14F-4D97-AF65-F5344CB8AC3E}">
        <p14:creationId xmlns:p14="http://schemas.microsoft.com/office/powerpoint/2010/main" val="39949754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65A06-1128-2987-95B7-B020BA40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DF8FF-780C-2646-B809-194DB821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Ethical &amp; Societal Implications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A7E1D-DD72-8F97-932A-A366CB7044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B0721-E4FD-EEBA-4D41-A7262D09A9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E" dirty="0"/>
              <a:t>Ethical &amp; Societal Implications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8A61B-5D86-7838-0CC7-6484418F2C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D5E698-5FE8-607A-0109-9A7ABA6CCD23}"/>
              </a:ext>
            </a:extLst>
          </p:cNvPr>
          <p:cNvSpPr/>
          <p:nvPr/>
        </p:nvSpPr>
        <p:spPr>
          <a:xfrm>
            <a:off x="-1320013" y="1995038"/>
            <a:ext cx="3019245" cy="4555094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14023A-B7AF-EE8B-80E1-CF70FD9E6909}"/>
              </a:ext>
            </a:extLst>
          </p:cNvPr>
          <p:cNvSpPr/>
          <p:nvPr/>
        </p:nvSpPr>
        <p:spPr>
          <a:xfrm>
            <a:off x="2085372" y="1995037"/>
            <a:ext cx="3019245" cy="455509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F04547-B054-032E-AB20-831924A8386B}"/>
              </a:ext>
            </a:extLst>
          </p:cNvPr>
          <p:cNvSpPr/>
          <p:nvPr/>
        </p:nvSpPr>
        <p:spPr>
          <a:xfrm>
            <a:off x="5490757" y="1995036"/>
            <a:ext cx="3019245" cy="455509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32345A-5011-2063-F35B-A138A2BA5F16}"/>
              </a:ext>
            </a:extLst>
          </p:cNvPr>
          <p:cNvSpPr/>
          <p:nvPr/>
        </p:nvSpPr>
        <p:spPr>
          <a:xfrm>
            <a:off x="8896142" y="1995035"/>
            <a:ext cx="3019245" cy="4555094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078E55-77DF-1650-C2EE-D87EB9A1F788}"/>
              </a:ext>
            </a:extLst>
          </p:cNvPr>
          <p:cNvSpPr txBox="1"/>
          <p:nvPr/>
        </p:nvSpPr>
        <p:spPr>
          <a:xfrm rot="10800000" flipV="1">
            <a:off x="-1320014" y="2400568"/>
            <a:ext cx="26038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6">
                    <a:lumMod val="75000"/>
                  </a:schemeClr>
                </a:solidFill>
              </a:rPr>
              <a:t>Accessibility: </a:t>
            </a:r>
          </a:p>
          <a:p>
            <a:endParaRPr lang="en-AE" sz="2200" dirty="0"/>
          </a:p>
          <a:p>
            <a:r>
              <a:rPr lang="en-AE" sz="2200" dirty="0"/>
              <a:t>Image-quality detection could help users identify when a photograph needs to be retaken.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D52CF8-4E8E-8A93-7BF0-A7BA062ACAF3}"/>
              </a:ext>
            </a:extLst>
          </p:cNvPr>
          <p:cNvSpPr txBox="1"/>
          <p:nvPr/>
        </p:nvSpPr>
        <p:spPr>
          <a:xfrm rot="10800000" flipV="1">
            <a:off x="2293048" y="2400568"/>
            <a:ext cx="28115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Errors:</a:t>
            </a:r>
          </a:p>
          <a:p>
            <a:endParaRPr lang="en-AE" sz="2400" dirty="0"/>
          </a:p>
          <a:p>
            <a:r>
              <a:rPr lang="en-AE" sz="2200" dirty="0"/>
              <a:t>False negatives may allow poor-quality images to pass through, while false positives may cause unnecessary retakes.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1774C3-0A3E-3AFC-24E3-EAF4F57C3C58}"/>
              </a:ext>
            </a:extLst>
          </p:cNvPr>
          <p:cNvSpPr txBox="1"/>
          <p:nvPr/>
        </p:nvSpPr>
        <p:spPr>
          <a:xfrm rot="10800000" flipV="1">
            <a:off x="5687191" y="2400568"/>
            <a:ext cx="281156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Privacy:</a:t>
            </a:r>
          </a:p>
          <a:p>
            <a:endParaRPr lang="en-AE" sz="2400" dirty="0"/>
          </a:p>
          <a:p>
            <a:r>
              <a:rPr lang="en-AE" sz="2200" dirty="0"/>
              <a:t>Images may contain faces or sensitive personal information and must be handled carefully.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736871-CB52-F991-9294-3798C5EFA55B}"/>
              </a:ext>
            </a:extLst>
          </p:cNvPr>
          <p:cNvSpPr txBox="1"/>
          <p:nvPr/>
        </p:nvSpPr>
        <p:spPr>
          <a:xfrm rot="10800000" flipV="1">
            <a:off x="8896141" y="2302907"/>
            <a:ext cx="301924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Limitations:</a:t>
            </a:r>
          </a:p>
          <a:p>
            <a:endParaRPr lang="en-AE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AE" sz="2000" dirty="0"/>
              <a:t>-Evaluation was limited to the training and validation splits; test-set performance remains unverified.</a:t>
            </a:r>
          </a:p>
          <a:p>
            <a:pPr lvl="0"/>
            <a:endParaRPr lang="en-AE" sz="2000" dirty="0"/>
          </a:p>
          <a:p>
            <a:pPr lvl="0"/>
            <a:r>
              <a:rPr lang="en-AE" sz="2000" dirty="0"/>
              <a:t>-Further testing on other datasets and with blind and low-vision users is needed to assess real-world reliability.</a:t>
            </a:r>
          </a:p>
          <a:p>
            <a:endParaRPr lang="en-AE" sz="2200" dirty="0"/>
          </a:p>
        </p:txBody>
      </p:sp>
    </p:spTree>
    <p:extLst>
      <p:ext uri="{BB962C8B-B14F-4D97-AF65-F5344CB8AC3E}">
        <p14:creationId xmlns:p14="http://schemas.microsoft.com/office/powerpoint/2010/main" val="3302524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59F33-477F-9748-5151-00B3F477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4D06D80-1DDC-DA68-DAF0-BC14310E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107" y="3586251"/>
            <a:ext cx="9830017" cy="731520"/>
          </a:xfrm>
        </p:spPr>
        <p:txBody>
          <a:bodyPr>
            <a:noAutofit/>
          </a:bodyPr>
          <a:lstStyle/>
          <a:p>
            <a:r>
              <a:rPr lang="en-GB" sz="9600" dirty="0"/>
              <a:t>Thank you!</a:t>
            </a:r>
            <a:endParaRPr lang="en-AE" sz="9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D903D9-CE58-7A4C-A324-1AA8FB35E38E}"/>
              </a:ext>
            </a:extLst>
          </p:cNvPr>
          <p:cNvCxnSpPr/>
          <p:nvPr/>
        </p:nvCxnSpPr>
        <p:spPr>
          <a:xfrm>
            <a:off x="4744530" y="4675517"/>
            <a:ext cx="28122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A5C19D79-08FD-9BFE-8EB0-5498380FB0C3}"/>
              </a:ext>
            </a:extLst>
          </p:cNvPr>
          <p:cNvSpPr/>
          <p:nvPr/>
        </p:nvSpPr>
        <p:spPr>
          <a:xfrm>
            <a:off x="206740" y="5305759"/>
            <a:ext cx="12545620" cy="1914733"/>
          </a:xfrm>
          <a:custGeom>
            <a:avLst/>
            <a:gdLst>
              <a:gd name="csX0" fmla="*/ 0 w 12545620"/>
              <a:gd name="csY0" fmla="*/ 1394479 h 1914733"/>
              <a:gd name="csX1" fmla="*/ 1921790 w 12545620"/>
              <a:gd name="csY1" fmla="*/ 728052 h 1914733"/>
              <a:gd name="csX2" fmla="*/ 4664990 w 12545620"/>
              <a:gd name="csY2" fmla="*/ 1285991 h 1914733"/>
              <a:gd name="csX3" fmla="*/ 11980190 w 12545620"/>
              <a:gd name="csY3" fmla="*/ 123618 h 1914733"/>
              <a:gd name="csX4" fmla="*/ 12042183 w 12545620"/>
              <a:gd name="csY4" fmla="*/ 185611 h 1914733"/>
              <a:gd name="csX5" fmla="*/ 11918197 w 12545620"/>
              <a:gd name="csY5" fmla="*/ 1471970 h 1914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545620" h="1914733">
                <a:moveTo>
                  <a:pt x="0" y="1394479"/>
                </a:moveTo>
                <a:cubicBezTo>
                  <a:pt x="572146" y="1070306"/>
                  <a:pt x="1144292" y="746133"/>
                  <a:pt x="1921790" y="728052"/>
                </a:cubicBezTo>
                <a:cubicBezTo>
                  <a:pt x="2699288" y="709971"/>
                  <a:pt x="2988590" y="1386730"/>
                  <a:pt x="4664990" y="1285991"/>
                </a:cubicBezTo>
                <a:cubicBezTo>
                  <a:pt x="6341390" y="1185252"/>
                  <a:pt x="10750658" y="307015"/>
                  <a:pt x="11980190" y="123618"/>
                </a:cubicBezTo>
                <a:cubicBezTo>
                  <a:pt x="13209722" y="-59779"/>
                  <a:pt x="12052515" y="-39114"/>
                  <a:pt x="12042183" y="185611"/>
                </a:cubicBezTo>
                <a:cubicBezTo>
                  <a:pt x="12031851" y="410336"/>
                  <a:pt x="12057682" y="2908146"/>
                  <a:pt x="11918197" y="1471970"/>
                </a:cubicBezTo>
              </a:path>
            </a:pathLst>
          </a:custGeom>
          <a:ln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AB4766E7-5964-5F1A-CA8D-1D2315F0FD39}"/>
              </a:ext>
            </a:extLst>
          </p:cNvPr>
          <p:cNvSpPr/>
          <p:nvPr/>
        </p:nvSpPr>
        <p:spPr>
          <a:xfrm>
            <a:off x="359140" y="5458159"/>
            <a:ext cx="12545620" cy="1914733"/>
          </a:xfrm>
          <a:custGeom>
            <a:avLst/>
            <a:gdLst>
              <a:gd name="csX0" fmla="*/ 0 w 12545620"/>
              <a:gd name="csY0" fmla="*/ 1394479 h 1914733"/>
              <a:gd name="csX1" fmla="*/ 1921790 w 12545620"/>
              <a:gd name="csY1" fmla="*/ 728052 h 1914733"/>
              <a:gd name="csX2" fmla="*/ 4664990 w 12545620"/>
              <a:gd name="csY2" fmla="*/ 1285991 h 1914733"/>
              <a:gd name="csX3" fmla="*/ 11980190 w 12545620"/>
              <a:gd name="csY3" fmla="*/ 123618 h 1914733"/>
              <a:gd name="csX4" fmla="*/ 12042183 w 12545620"/>
              <a:gd name="csY4" fmla="*/ 185611 h 1914733"/>
              <a:gd name="csX5" fmla="*/ 11918197 w 12545620"/>
              <a:gd name="csY5" fmla="*/ 1471970 h 1914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545620" h="1914733">
                <a:moveTo>
                  <a:pt x="0" y="1394479"/>
                </a:moveTo>
                <a:cubicBezTo>
                  <a:pt x="572146" y="1070306"/>
                  <a:pt x="1144292" y="746133"/>
                  <a:pt x="1921790" y="728052"/>
                </a:cubicBezTo>
                <a:cubicBezTo>
                  <a:pt x="2699288" y="709971"/>
                  <a:pt x="2988590" y="1386730"/>
                  <a:pt x="4664990" y="1285991"/>
                </a:cubicBezTo>
                <a:cubicBezTo>
                  <a:pt x="6341390" y="1185252"/>
                  <a:pt x="10750658" y="307015"/>
                  <a:pt x="11980190" y="123618"/>
                </a:cubicBezTo>
                <a:cubicBezTo>
                  <a:pt x="13209722" y="-59779"/>
                  <a:pt x="12052515" y="-39114"/>
                  <a:pt x="12042183" y="185611"/>
                </a:cubicBezTo>
                <a:cubicBezTo>
                  <a:pt x="12031851" y="410336"/>
                  <a:pt x="12057682" y="2908146"/>
                  <a:pt x="11918197" y="1471970"/>
                </a:cubicBezTo>
              </a:path>
            </a:pathLst>
          </a:custGeom>
          <a:noFill/>
          <a:ln>
            <a:solidFill>
              <a:schemeClr val="bg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7C181E-A550-F0AE-7946-DC4320BDA438}"/>
              </a:ext>
            </a:extLst>
          </p:cNvPr>
          <p:cNvSpPr txBox="1"/>
          <p:nvPr/>
        </p:nvSpPr>
        <p:spPr>
          <a:xfrm>
            <a:off x="3349000" y="5033264"/>
            <a:ext cx="656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/>
              <a:t>Github: </a:t>
            </a:r>
            <a:r>
              <a:rPr lang="en-AE" b="1" u="sng">
                <a:hlinkClick r:id="rId2"/>
              </a:rPr>
              <a:t>https://github.com/ns732/framesense-image-quality</a:t>
            </a:r>
            <a:endParaRPr lang="en-AE"/>
          </a:p>
          <a:p>
            <a:r>
              <a:rPr lang="en-AE" b="1"/>
              <a:t>Streamlit App: </a:t>
            </a:r>
            <a:r>
              <a:rPr lang="en-AE" b="1" u="sng">
                <a:hlinkClick r:id="rId3"/>
              </a:rPr>
              <a:t>https://framesense.streamlit.app/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51083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230e9df3-be65-4c73-a93b-d1236ebd677e"/>
    <ds:schemaRef ds:uri="http://purl.org/dc/elements/1.1/"/>
    <ds:schemaRef ds:uri="16c05727-aa75-4e4a-9b5f-8a80a1165891"/>
    <ds:schemaRef ds:uri="71af3243-3dd4-4a8d-8c0d-dd76da1f02a5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613</TotalTime>
  <Words>1024</Words>
  <Application>Microsoft Office PowerPoint</Application>
  <PresentationFormat>Widescreen</PresentationFormat>
  <Paragraphs>169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Bahnschrift Light</vt:lpstr>
      <vt:lpstr>Dark Gradient</vt:lpstr>
      <vt:lpstr>PowerPoint Presentation</vt:lpstr>
      <vt:lpstr>Introduction </vt:lpstr>
      <vt:lpstr>Introduction </vt:lpstr>
      <vt:lpstr>Introduction </vt:lpstr>
      <vt:lpstr>Introduction </vt:lpstr>
      <vt:lpstr>Dataset</vt:lpstr>
      <vt:lpstr>Models and Methodology</vt:lpstr>
      <vt:lpstr>Models and Methodology</vt:lpstr>
      <vt:lpstr>Models and Methodology</vt:lpstr>
      <vt:lpstr>Preprocessing Pipeline</vt:lpstr>
      <vt:lpstr>Feature Extraction and Classifier Training</vt:lpstr>
      <vt:lpstr>Evaluation Metrics &amp; Results</vt:lpstr>
      <vt:lpstr>Evaluation Metrics &amp; Results</vt:lpstr>
      <vt:lpstr>Ethical &amp; Societal Implications</vt:lpstr>
      <vt:lpstr>Ethical &amp; Societal Implications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Nahan Salam</dc:creator>
  <cp:lastModifiedBy>Nahan Salam</cp:lastModifiedBy>
  <cp:revision>4</cp:revision>
  <dcterms:created xsi:type="dcterms:W3CDTF">2026-10-27T03:22:25Z</dcterms:created>
  <dcterms:modified xsi:type="dcterms:W3CDTF">2026-10-27T13:36:24Z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